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Open Sans" charset="1" panose="00000000000000000000"/>
      <p:regular r:id="rId17"/>
    </p:embeddedFont>
    <p:embeddedFont>
      <p:font typeface="Arimo" charset="1" panose="020B0604020202020204"/>
      <p:regular r:id="rId18"/>
    </p:embeddedFont>
    <p:embeddedFont>
      <p:font typeface="Open Sans Bold" charset="1" panose="00000000000000000000"/>
      <p:regular r:id="rId19"/>
    </p:embeddedFont>
    <p:embeddedFont>
      <p:font typeface="Arimo Bold" charset="1" panose="020B0704020202020204"/>
      <p:regular r:id="rId20"/>
    </p:embeddedFont>
    <p:embeddedFont>
      <p:font typeface="Open Sans Italic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858250" y="0"/>
            <a:ext cx="9429750" cy="10287000"/>
            <a:chOff x="0" y="0"/>
            <a:chExt cx="12573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3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573000">
                  <a:moveTo>
                    <a:pt x="0" y="0"/>
                  </a:moveTo>
                  <a:lnTo>
                    <a:pt x="12573000" y="0"/>
                  </a:lnTo>
                  <a:lnTo>
                    <a:pt x="12573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241B17">
                    <a:alpha val="100000"/>
                  </a:srgbClr>
                </a:gs>
                <a:gs pos="35000">
                  <a:srgbClr val="241B17">
                    <a:alpha val="55000"/>
                  </a:srgbClr>
                </a:gs>
                <a:gs pos="100000">
                  <a:srgbClr val="241B17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573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9284" y="1143000"/>
            <a:ext cx="726377" cy="593598"/>
            <a:chOff x="0" y="0"/>
            <a:chExt cx="968502" cy="79146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97866" y="354076"/>
              <a:ext cx="479044" cy="437388"/>
              <a:chOff x="0" y="0"/>
              <a:chExt cx="479044" cy="4373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79044" cy="437388"/>
              </a:xfrm>
              <a:custGeom>
                <a:avLst/>
                <a:gdLst/>
                <a:ahLst/>
                <a:cxnLst/>
                <a:rect r="r" b="b" t="t" l="l"/>
                <a:pathLst>
                  <a:path h="437388" w="479044">
                    <a:moveTo>
                      <a:pt x="239522" y="0"/>
                    </a:moveTo>
                    <a:cubicBezTo>
                      <a:pt x="371806" y="0"/>
                      <a:pt x="479044" y="97913"/>
                      <a:pt x="479044" y="218694"/>
                    </a:cubicBezTo>
                    <a:cubicBezTo>
                      <a:pt x="479044" y="339475"/>
                      <a:pt x="371806" y="437388"/>
                      <a:pt x="239522" y="437388"/>
                    </a:cubicBezTo>
                    <a:cubicBezTo>
                      <a:pt x="107238" y="437388"/>
                      <a:pt x="0" y="339475"/>
                      <a:pt x="0" y="218694"/>
                    </a:cubicBezTo>
                    <a:cubicBezTo>
                      <a:pt x="0" y="97913"/>
                      <a:pt x="107238" y="0"/>
                      <a:pt x="239522" y="0"/>
                    </a:cubicBezTo>
                    <a:close/>
                  </a:path>
                </a:pathLst>
              </a:custGeom>
              <a:solidFill>
                <a:srgbClr val="ED8A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79044" cy="4754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83312"/>
              <a:ext cx="208280" cy="260350"/>
              <a:chOff x="0" y="0"/>
              <a:chExt cx="208280" cy="2603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8280" cy="260350"/>
              </a:xfrm>
              <a:custGeom>
                <a:avLst/>
                <a:gdLst/>
                <a:ahLst/>
                <a:cxnLst/>
                <a:rect r="r" b="b" t="t" l="l"/>
                <a:pathLst>
                  <a:path h="260350" w="208280">
                    <a:moveTo>
                      <a:pt x="104140" y="0"/>
                    </a:moveTo>
                    <a:cubicBezTo>
                      <a:pt x="161655" y="0"/>
                      <a:pt x="208280" y="58281"/>
                      <a:pt x="208280" y="130175"/>
                    </a:cubicBezTo>
                    <a:cubicBezTo>
                      <a:pt x="208280" y="202069"/>
                      <a:pt x="161655" y="260350"/>
                      <a:pt x="104140" y="260350"/>
                    </a:cubicBezTo>
                    <a:cubicBezTo>
                      <a:pt x="46625" y="260350"/>
                      <a:pt x="0" y="202069"/>
                      <a:pt x="0" y="130175"/>
                    </a:cubicBezTo>
                    <a:cubicBezTo>
                      <a:pt x="0" y="58281"/>
                      <a:pt x="46625" y="0"/>
                      <a:pt x="104140" y="0"/>
                    </a:cubicBezTo>
                    <a:close/>
                  </a:path>
                </a:pathLst>
              </a:custGeom>
              <a:solidFill>
                <a:srgbClr val="ED8A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08280" cy="29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39522" y="0"/>
              <a:ext cx="208280" cy="260350"/>
              <a:chOff x="0" y="0"/>
              <a:chExt cx="208280" cy="26035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8280" cy="260350"/>
              </a:xfrm>
              <a:custGeom>
                <a:avLst/>
                <a:gdLst/>
                <a:ahLst/>
                <a:cxnLst/>
                <a:rect r="r" b="b" t="t" l="l"/>
                <a:pathLst>
                  <a:path h="260350" w="208280">
                    <a:moveTo>
                      <a:pt x="104140" y="0"/>
                    </a:moveTo>
                    <a:cubicBezTo>
                      <a:pt x="161655" y="0"/>
                      <a:pt x="208280" y="58281"/>
                      <a:pt x="208280" y="130175"/>
                    </a:cubicBezTo>
                    <a:cubicBezTo>
                      <a:pt x="208280" y="202069"/>
                      <a:pt x="161655" y="260350"/>
                      <a:pt x="104140" y="260350"/>
                    </a:cubicBezTo>
                    <a:cubicBezTo>
                      <a:pt x="46625" y="260350"/>
                      <a:pt x="0" y="202069"/>
                      <a:pt x="0" y="130175"/>
                    </a:cubicBezTo>
                    <a:cubicBezTo>
                      <a:pt x="0" y="58281"/>
                      <a:pt x="46625" y="0"/>
                      <a:pt x="104140" y="0"/>
                    </a:cubicBezTo>
                    <a:close/>
                  </a:path>
                </a:pathLst>
              </a:custGeom>
              <a:solidFill>
                <a:srgbClr val="ED8A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8280" cy="29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20700" y="0"/>
              <a:ext cx="208280" cy="260350"/>
              <a:chOff x="0" y="0"/>
              <a:chExt cx="208280" cy="2603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08280" cy="260350"/>
              </a:xfrm>
              <a:custGeom>
                <a:avLst/>
                <a:gdLst/>
                <a:ahLst/>
                <a:cxnLst/>
                <a:rect r="r" b="b" t="t" l="l"/>
                <a:pathLst>
                  <a:path h="260350" w="208280">
                    <a:moveTo>
                      <a:pt x="104140" y="0"/>
                    </a:moveTo>
                    <a:cubicBezTo>
                      <a:pt x="161655" y="0"/>
                      <a:pt x="208280" y="58281"/>
                      <a:pt x="208280" y="130175"/>
                    </a:cubicBezTo>
                    <a:cubicBezTo>
                      <a:pt x="208280" y="202069"/>
                      <a:pt x="161655" y="260350"/>
                      <a:pt x="104140" y="260350"/>
                    </a:cubicBezTo>
                    <a:cubicBezTo>
                      <a:pt x="46625" y="260350"/>
                      <a:pt x="0" y="202069"/>
                      <a:pt x="0" y="130175"/>
                    </a:cubicBezTo>
                    <a:cubicBezTo>
                      <a:pt x="0" y="58281"/>
                      <a:pt x="46625" y="0"/>
                      <a:pt x="104140" y="0"/>
                    </a:cubicBezTo>
                    <a:close/>
                  </a:path>
                </a:pathLst>
              </a:custGeom>
              <a:solidFill>
                <a:srgbClr val="ED8A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08280" cy="29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60222" y="83312"/>
              <a:ext cx="208280" cy="260350"/>
              <a:chOff x="0" y="0"/>
              <a:chExt cx="208280" cy="2603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8280" cy="260350"/>
              </a:xfrm>
              <a:custGeom>
                <a:avLst/>
                <a:gdLst/>
                <a:ahLst/>
                <a:cxnLst/>
                <a:rect r="r" b="b" t="t" l="l"/>
                <a:pathLst>
                  <a:path h="260350" w="208280">
                    <a:moveTo>
                      <a:pt x="104140" y="0"/>
                    </a:moveTo>
                    <a:cubicBezTo>
                      <a:pt x="161655" y="0"/>
                      <a:pt x="208280" y="58281"/>
                      <a:pt x="208280" y="130175"/>
                    </a:cubicBezTo>
                    <a:cubicBezTo>
                      <a:pt x="208280" y="202069"/>
                      <a:pt x="161655" y="260350"/>
                      <a:pt x="104140" y="260350"/>
                    </a:cubicBezTo>
                    <a:cubicBezTo>
                      <a:pt x="46625" y="260350"/>
                      <a:pt x="0" y="202069"/>
                      <a:pt x="0" y="130175"/>
                    </a:cubicBezTo>
                    <a:cubicBezTo>
                      <a:pt x="0" y="58281"/>
                      <a:pt x="46625" y="0"/>
                      <a:pt x="104140" y="0"/>
                    </a:cubicBezTo>
                    <a:close/>
                  </a:path>
                </a:pathLst>
              </a:custGeom>
              <a:solidFill>
                <a:srgbClr val="ED8A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08280" cy="29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066800" y="2733675"/>
            <a:ext cx="809625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HouseFound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6800" y="3781425"/>
            <a:ext cx="6667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D8A3D"/>
                </a:solidFill>
                <a:latin typeface="DM Sans Bold"/>
                <a:ea typeface="DM Sans Bold"/>
                <a:cs typeface="DM Sans Bold"/>
                <a:sym typeface="DM Sans Bold"/>
              </a:rPr>
              <a:t>Avance · Fase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800" y="4924425"/>
            <a:ext cx="685800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7ED"/>
                </a:solidFill>
                <a:latin typeface="Open Sans"/>
                <a:ea typeface="Open Sans"/>
                <a:cs typeface="Open Sans"/>
                <a:sym typeface="Open Sans"/>
              </a:rPr>
              <a:t>CAPSTONE APT122 · Sección 004D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7ED"/>
                </a:solidFill>
                <a:latin typeface="Open Sans"/>
                <a:ea typeface="Open Sans"/>
                <a:cs typeface="Open Sans"/>
                <a:sym typeface="Open Sans"/>
              </a:rPr>
              <a:t>Revisión de avance · Octubre 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6800" y="6134100"/>
            <a:ext cx="76200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2D7BD"/>
                </a:solidFill>
                <a:latin typeface="Arimo"/>
                <a:ea typeface="Arimo"/>
                <a:cs typeface="Arimo"/>
                <a:sym typeface="Arimo"/>
              </a:rPr>
              <a:t>Orlando Espinoza · Patricio Cárcamo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2D7BD"/>
                </a:solidFill>
                <a:latin typeface="Arimo"/>
                <a:ea typeface="Arimo"/>
                <a:cs typeface="Arimo"/>
                <a:sym typeface="Arimo"/>
              </a:rPr>
              <a:t>Martín Guzmán · Benjamín Ormazábal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2D7BD"/>
                </a:solidFill>
                <a:latin typeface="Arimo"/>
                <a:ea typeface="Arimo"/>
                <a:cs typeface="Arimo"/>
                <a:sym typeface="Arimo"/>
              </a:rPr>
              <a:t>Docente: Marco Antonio Valenzuela Contreras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914400"/>
            <a:ext cx="85725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Dónde estamos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2571750"/>
            <a:ext cx="6667500" cy="4762500"/>
            <a:chOff x="0" y="0"/>
            <a:chExt cx="889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00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28750" y="3038475"/>
            <a:ext cx="523875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0"/>
              </a:lnSpc>
            </a:pPr>
            <a:r>
              <a:rPr lang="en-US" sz="12750" b="true">
                <a:solidFill>
                  <a:srgbClr val="C75B39"/>
                </a:solidFill>
                <a:latin typeface="DM Sans Bold"/>
                <a:ea typeface="DM Sans Bold"/>
                <a:cs typeface="DM Sans Bold"/>
                <a:sym typeface="DM Sans Bold"/>
              </a:rPr>
              <a:t>MVP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5067300"/>
            <a:ext cx="54292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operativo de punta a punta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86875" y="2714625"/>
            <a:ext cx="2238375" cy="1190625"/>
            <a:chOff x="0" y="0"/>
            <a:chExt cx="2984500" cy="1587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4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984500">
                  <a:moveTo>
                    <a:pt x="118894" y="0"/>
                  </a:moveTo>
                  <a:lnTo>
                    <a:pt x="2865606" y="0"/>
                  </a:lnTo>
                  <a:cubicBezTo>
                    <a:pt x="2931270" y="0"/>
                    <a:pt x="2984500" y="53230"/>
                    <a:pt x="2984500" y="118894"/>
                  </a:cubicBezTo>
                  <a:lnTo>
                    <a:pt x="2984500" y="1468606"/>
                  </a:lnTo>
                  <a:cubicBezTo>
                    <a:pt x="2984500" y="1534270"/>
                    <a:pt x="2931270" y="1587500"/>
                    <a:pt x="2865606" y="1587500"/>
                  </a:cubicBezTo>
                  <a:lnTo>
                    <a:pt x="118894" y="1587500"/>
                  </a:lnTo>
                  <a:cubicBezTo>
                    <a:pt x="53230" y="1587500"/>
                    <a:pt x="0" y="1534270"/>
                    <a:pt x="0" y="1468606"/>
                  </a:cubicBezTo>
                  <a:lnTo>
                    <a:pt x="0" y="118894"/>
                  </a:lnTo>
                  <a:cubicBezTo>
                    <a:pt x="0" y="53230"/>
                    <a:pt x="53230" y="0"/>
                    <a:pt x="118894" y="0"/>
                  </a:cubicBezTo>
                  <a:close/>
                </a:path>
              </a:pathLst>
            </a:custGeom>
            <a:solidFill>
              <a:srgbClr val="F2D7B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984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Frontend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92000" y="2714625"/>
            <a:ext cx="2238375" cy="1190625"/>
            <a:chOff x="0" y="0"/>
            <a:chExt cx="2984500" cy="1587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84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984500">
                  <a:moveTo>
                    <a:pt x="118894" y="0"/>
                  </a:moveTo>
                  <a:lnTo>
                    <a:pt x="2865606" y="0"/>
                  </a:lnTo>
                  <a:cubicBezTo>
                    <a:pt x="2931270" y="0"/>
                    <a:pt x="2984500" y="53230"/>
                    <a:pt x="2984500" y="118894"/>
                  </a:cubicBezTo>
                  <a:lnTo>
                    <a:pt x="2984500" y="1468606"/>
                  </a:lnTo>
                  <a:cubicBezTo>
                    <a:pt x="2984500" y="1534270"/>
                    <a:pt x="2931270" y="1587500"/>
                    <a:pt x="2865606" y="1587500"/>
                  </a:cubicBezTo>
                  <a:lnTo>
                    <a:pt x="118894" y="1587500"/>
                  </a:lnTo>
                  <a:cubicBezTo>
                    <a:pt x="53230" y="1587500"/>
                    <a:pt x="0" y="1534270"/>
                    <a:pt x="0" y="1468606"/>
                  </a:cubicBezTo>
                  <a:lnTo>
                    <a:pt x="0" y="118894"/>
                  </a:lnTo>
                  <a:cubicBezTo>
                    <a:pt x="0" y="53230"/>
                    <a:pt x="53230" y="0"/>
                    <a:pt x="118894" y="0"/>
                  </a:cubicBezTo>
                  <a:close/>
                </a:path>
              </a:pathLst>
            </a:custGeom>
            <a:solidFill>
              <a:srgbClr val="C75B3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2984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 Gateway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97125" y="2714625"/>
            <a:ext cx="2238375" cy="1190625"/>
            <a:chOff x="0" y="0"/>
            <a:chExt cx="2984500" cy="1587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84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984500">
                  <a:moveTo>
                    <a:pt x="118894" y="0"/>
                  </a:moveTo>
                  <a:lnTo>
                    <a:pt x="2865606" y="0"/>
                  </a:lnTo>
                  <a:cubicBezTo>
                    <a:pt x="2931270" y="0"/>
                    <a:pt x="2984500" y="53230"/>
                    <a:pt x="2984500" y="118894"/>
                  </a:cubicBezTo>
                  <a:lnTo>
                    <a:pt x="2984500" y="1468606"/>
                  </a:lnTo>
                  <a:cubicBezTo>
                    <a:pt x="2984500" y="1534270"/>
                    <a:pt x="2931270" y="1587500"/>
                    <a:pt x="2865606" y="1587500"/>
                  </a:cubicBezTo>
                  <a:lnTo>
                    <a:pt x="118894" y="1587500"/>
                  </a:lnTo>
                  <a:cubicBezTo>
                    <a:pt x="53230" y="1587500"/>
                    <a:pt x="0" y="1534270"/>
                    <a:pt x="0" y="1468606"/>
                  </a:cubicBezTo>
                  <a:lnTo>
                    <a:pt x="0" y="118894"/>
                  </a:lnTo>
                  <a:cubicBezTo>
                    <a:pt x="0" y="53230"/>
                    <a:pt x="53230" y="0"/>
                    <a:pt x="118894" y="0"/>
                  </a:cubicBezTo>
                  <a:close/>
                </a:path>
              </a:pathLst>
            </a:custGeom>
            <a:solidFill>
              <a:srgbClr val="ED8A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984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Servicios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525250" y="3314700"/>
            <a:ext cx="666750" cy="0"/>
          </a:xfrm>
          <a:prstGeom prst="line">
            <a:avLst/>
          </a:prstGeom>
          <a:ln cap="rnd" w="47625">
            <a:solidFill>
              <a:srgbClr val="C75B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430375" y="3314700"/>
            <a:ext cx="666750" cy="0"/>
          </a:xfrm>
          <a:prstGeom prst="line">
            <a:avLst/>
          </a:prstGeom>
          <a:ln cap="rnd" w="47625">
            <a:solidFill>
              <a:srgbClr val="C75B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2192000" y="4953000"/>
            <a:ext cx="2238375" cy="1190625"/>
            <a:chOff x="0" y="0"/>
            <a:chExt cx="2984500" cy="1587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84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984500">
                  <a:moveTo>
                    <a:pt x="118894" y="0"/>
                  </a:moveTo>
                  <a:lnTo>
                    <a:pt x="2865606" y="0"/>
                  </a:lnTo>
                  <a:cubicBezTo>
                    <a:pt x="2931270" y="0"/>
                    <a:pt x="2984500" y="53230"/>
                    <a:pt x="2984500" y="118894"/>
                  </a:cubicBezTo>
                  <a:lnTo>
                    <a:pt x="2984500" y="1468606"/>
                  </a:lnTo>
                  <a:cubicBezTo>
                    <a:pt x="2984500" y="1534270"/>
                    <a:pt x="2931270" y="1587500"/>
                    <a:pt x="2865606" y="1587500"/>
                  </a:cubicBezTo>
                  <a:lnTo>
                    <a:pt x="118894" y="1587500"/>
                  </a:lnTo>
                  <a:cubicBezTo>
                    <a:pt x="53230" y="1587500"/>
                    <a:pt x="0" y="1534270"/>
                    <a:pt x="0" y="1468606"/>
                  </a:cubicBezTo>
                  <a:lnTo>
                    <a:pt x="0" y="118894"/>
                  </a:lnTo>
                  <a:cubicBezTo>
                    <a:pt x="0" y="53230"/>
                    <a:pt x="53230" y="0"/>
                    <a:pt x="118894" y="0"/>
                  </a:cubicBezTo>
                  <a:close/>
                </a:path>
              </a:pathLst>
            </a:custGeom>
            <a:solidFill>
              <a:srgbClr val="6F887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2984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Cloud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publicada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3306425" y="3905250"/>
            <a:ext cx="0" cy="1047750"/>
          </a:xfrm>
          <a:prstGeom prst="line">
            <a:avLst/>
          </a:prstGeom>
          <a:ln cap="rnd" w="47625">
            <a:solidFill>
              <a:srgbClr val="6F88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286875" y="6515100"/>
            <a:ext cx="8048625" cy="210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• Publicado en Render (frontend-zavd.onrender.com): cualquiera puede probarlo sin instalar nada.</a:t>
            </a:r>
          </a:p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• 72 commits entre el 28-08 y el 08-10, repartidos entre los 4 integrantes.</a:t>
            </a:r>
          </a:p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• Sprint 1 en curso desde el 05-10: foco en el seguimiento post-adopción.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800" y="1714500"/>
            <a:ext cx="1238250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796B63"/>
                </a:solidFill>
                <a:latin typeface="Arimo"/>
                <a:ea typeface="Arimo"/>
                <a:cs typeface="Arimo"/>
                <a:sym typeface="Arimo"/>
              </a:rPr>
              <a:t>El núcleo del MVP ya funciona completo y está publicado en la nube.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4000" y="5753100"/>
            <a:ext cx="57150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C75B39"/>
                </a:solidFill>
                <a:latin typeface="Arimo Bold"/>
                <a:ea typeface="Arimo Bold"/>
                <a:cs typeface="Arimo Bold"/>
                <a:sym typeface="Arimo Bold"/>
              </a:rPr>
              <a:t>Registro → cuestionario → recomendaciones → postulación → aprobación → adopción confirmada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819150"/>
            <a:ext cx="123825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Avances desde la Fase 1</a:t>
            </a:r>
          </a:p>
        </p:txBody>
      </p:sp>
      <p:sp>
        <p:nvSpPr>
          <p:cNvPr name="AutoShape 3" id="3"/>
          <p:cNvSpPr/>
          <p:nvPr/>
        </p:nvSpPr>
        <p:spPr>
          <a:xfrm>
            <a:off x="1619250" y="5000625"/>
            <a:ext cx="15001875" cy="0"/>
          </a:xfrm>
          <a:prstGeom prst="line">
            <a:avLst/>
          </a:prstGeom>
          <a:ln cap="rnd" w="95250">
            <a:solidFill>
              <a:srgbClr val="F2D7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90650" y="4772025"/>
            <a:ext cx="457200" cy="457200"/>
            <a:chOff x="0" y="0"/>
            <a:chExt cx="609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C75B3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48275" y="4772025"/>
            <a:ext cx="457200" cy="457200"/>
            <a:chOff x="0" y="0"/>
            <a:chExt cx="609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C75B3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05900" y="4772025"/>
            <a:ext cx="457200" cy="457200"/>
            <a:chOff x="0" y="0"/>
            <a:chExt cx="6096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C75B3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63525" y="4772025"/>
            <a:ext cx="457200" cy="457200"/>
            <a:chOff x="0" y="0"/>
            <a:chExt cx="6096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C75B3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92525" y="4772025"/>
            <a:ext cx="457200" cy="457200"/>
            <a:chOff x="0" y="0"/>
            <a:chExt cx="6096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ED8A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43000" y="567690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99" strike="noStrike" u="none">
                <a:solidFill>
                  <a:srgbClr val="C75B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SEPTIEMBRE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00625" y="567690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99" strike="noStrike" u="none">
                <a:solidFill>
                  <a:srgbClr val="C75B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FINES DE SEPT.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8250" y="5676900"/>
            <a:ext cx="2476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99" strike="noStrike" u="none">
                <a:solidFill>
                  <a:srgbClr val="C75B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DE OCTUBRE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15875" y="567690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99" strike="noStrike" u="none">
                <a:solidFill>
                  <a:srgbClr val="C75B3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2–3 DE OCTUBRE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40000" y="567690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99" strike="noStrike" u="none">
                <a:solidFill>
                  <a:srgbClr val="ED8A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5–7 DE OCTUBRE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3000" y="6124575"/>
            <a:ext cx="333375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Mockups, dockerización (todo levanta con un comando) y fotos en Cloudinary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00625" y="6124575"/>
            <a:ext cx="3333750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Rediseño visual, login seguro y acceso de refugios con RUT + código validado contra la nómina SII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58250" y="6124575"/>
            <a:ext cx="333375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Motor de matching v2 en 3 capas y cuestionario obligatorio antes de postular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15875" y="6124575"/>
            <a:ext cx="2286000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Filtros, tutorial para adoptantes nuevos y modo swipe para explorar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40000" y="6124575"/>
            <a:ext cx="257175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Deploy automático en Render y refuerzos de seguridad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6800" y="1714500"/>
            <a:ext cx="14287500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796B63"/>
                </a:solidFill>
                <a:latin typeface="Arimo"/>
                <a:ea typeface="Arimo"/>
                <a:cs typeface="Arimo"/>
                <a:sym typeface="Arimo"/>
              </a:rPr>
              <a:t>Fase 1: microservicios y una base del frontend. Fase 2: pasamos de “funciona en local” a un producto usable y publicado.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4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90575"/>
            <a:ext cx="123825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 en producción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63500" y="1047750"/>
            <a:ext cx="42862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700" b="true">
                <a:solidFill>
                  <a:srgbClr val="ED8A3D"/>
                </a:solidFill>
                <a:latin typeface="DM Sans Bold"/>
                <a:ea typeface="DM Sans Bold"/>
                <a:cs typeface="DM Sans Bold"/>
                <a:sym typeface="DM Sans Bold"/>
              </a:rPr>
              <a:t>7 contenedores Docker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333750"/>
            <a:ext cx="2476500" cy="1333500"/>
            <a:chOff x="0" y="0"/>
            <a:chExt cx="3302000" cy="177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2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302000">
                  <a:moveTo>
                    <a:pt x="107462" y="0"/>
                  </a:moveTo>
                  <a:lnTo>
                    <a:pt x="3194539" y="0"/>
                  </a:lnTo>
                  <a:cubicBezTo>
                    <a:pt x="3223039" y="0"/>
                    <a:pt x="3250372" y="11322"/>
                    <a:pt x="3270525" y="31475"/>
                  </a:cubicBezTo>
                  <a:cubicBezTo>
                    <a:pt x="3290678" y="51628"/>
                    <a:pt x="3302000" y="78961"/>
                    <a:pt x="3302000" y="107462"/>
                  </a:cubicBezTo>
                  <a:lnTo>
                    <a:pt x="3302000" y="1670539"/>
                  </a:lnTo>
                  <a:cubicBezTo>
                    <a:pt x="3302000" y="1699039"/>
                    <a:pt x="3290678" y="1726372"/>
                    <a:pt x="3270525" y="1746525"/>
                  </a:cubicBezTo>
                  <a:cubicBezTo>
                    <a:pt x="3250372" y="1766678"/>
                    <a:pt x="3223039" y="1778000"/>
                    <a:pt x="3194539" y="1778000"/>
                  </a:cubicBezTo>
                  <a:lnTo>
                    <a:pt x="107462" y="1778000"/>
                  </a:lnTo>
                  <a:cubicBezTo>
                    <a:pt x="78961" y="1778000"/>
                    <a:pt x="51628" y="1766678"/>
                    <a:pt x="31475" y="1746525"/>
                  </a:cubicBezTo>
                  <a:cubicBezTo>
                    <a:pt x="11322" y="1726372"/>
                    <a:pt x="0" y="1699039"/>
                    <a:pt x="0" y="1670539"/>
                  </a:cubicBezTo>
                  <a:lnTo>
                    <a:pt x="0" y="107462"/>
                  </a:lnTo>
                  <a:cubicBezTo>
                    <a:pt x="0" y="78961"/>
                    <a:pt x="11322" y="51628"/>
                    <a:pt x="31475" y="31475"/>
                  </a:cubicBezTo>
                  <a:cubicBezTo>
                    <a:pt x="51628" y="11322"/>
                    <a:pt x="78961" y="0"/>
                    <a:pt x="107462" y="0"/>
                  </a:cubicBezTo>
                  <a:close/>
                </a:path>
              </a:pathLst>
            </a:custGeom>
            <a:solidFill>
              <a:srgbClr val="FFF7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302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Frontend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+ 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62500" y="3333750"/>
            <a:ext cx="2857500" cy="1333500"/>
            <a:chOff x="0" y="0"/>
            <a:chExt cx="3810000" cy="177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810000">
                  <a:moveTo>
                    <a:pt x="93133" y="0"/>
                  </a:moveTo>
                  <a:lnTo>
                    <a:pt x="3716867" y="0"/>
                  </a:lnTo>
                  <a:cubicBezTo>
                    <a:pt x="3741567" y="0"/>
                    <a:pt x="3765256" y="9812"/>
                    <a:pt x="3782722" y="27278"/>
                  </a:cubicBezTo>
                  <a:cubicBezTo>
                    <a:pt x="3800188" y="44744"/>
                    <a:pt x="3810000" y="68433"/>
                    <a:pt x="3810000" y="93133"/>
                  </a:cubicBezTo>
                  <a:lnTo>
                    <a:pt x="3810000" y="1684867"/>
                  </a:lnTo>
                  <a:cubicBezTo>
                    <a:pt x="3810000" y="1709567"/>
                    <a:pt x="3800188" y="1733256"/>
                    <a:pt x="3782722" y="1750722"/>
                  </a:cubicBezTo>
                  <a:cubicBezTo>
                    <a:pt x="3765256" y="1768188"/>
                    <a:pt x="3741567" y="1778000"/>
                    <a:pt x="3716867" y="1778000"/>
                  </a:cubicBezTo>
                  <a:lnTo>
                    <a:pt x="93133" y="1778000"/>
                  </a:lnTo>
                  <a:cubicBezTo>
                    <a:pt x="68433" y="1778000"/>
                    <a:pt x="44744" y="1768188"/>
                    <a:pt x="27278" y="1750722"/>
                  </a:cubicBezTo>
                  <a:cubicBezTo>
                    <a:pt x="9812" y="1733256"/>
                    <a:pt x="0" y="1709567"/>
                    <a:pt x="0" y="1684867"/>
                  </a:cubicBezTo>
                  <a:lnTo>
                    <a:pt x="0" y="93133"/>
                  </a:lnTo>
                  <a:cubicBezTo>
                    <a:pt x="0" y="68433"/>
                    <a:pt x="9812" y="44744"/>
                    <a:pt x="27278" y="27278"/>
                  </a:cubicBezTo>
                  <a:cubicBezTo>
                    <a:pt x="44744" y="9812"/>
                    <a:pt x="68433" y="0"/>
                    <a:pt x="93133" y="0"/>
                  </a:cubicBezTo>
                  <a:close/>
                </a:path>
              </a:pathLst>
            </a:custGeom>
            <a:solidFill>
              <a:srgbClr val="C75B39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3810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 Gateway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58250" y="2428875"/>
            <a:ext cx="2476500" cy="1143000"/>
            <a:chOff x="0" y="0"/>
            <a:chExt cx="3302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107462" y="0"/>
                  </a:moveTo>
                  <a:lnTo>
                    <a:pt x="3194539" y="0"/>
                  </a:lnTo>
                  <a:cubicBezTo>
                    <a:pt x="3223039" y="0"/>
                    <a:pt x="3250372" y="11322"/>
                    <a:pt x="3270525" y="31475"/>
                  </a:cubicBezTo>
                  <a:cubicBezTo>
                    <a:pt x="3290678" y="51628"/>
                    <a:pt x="3302000" y="78961"/>
                    <a:pt x="3302000" y="107462"/>
                  </a:cubicBezTo>
                  <a:lnTo>
                    <a:pt x="3302000" y="1416538"/>
                  </a:lnTo>
                  <a:cubicBezTo>
                    <a:pt x="3302000" y="1445039"/>
                    <a:pt x="3290678" y="1472372"/>
                    <a:pt x="3270525" y="1492525"/>
                  </a:cubicBezTo>
                  <a:cubicBezTo>
                    <a:pt x="3250372" y="1512678"/>
                    <a:pt x="3223039" y="1524000"/>
                    <a:pt x="3194539" y="1524000"/>
                  </a:cubicBezTo>
                  <a:lnTo>
                    <a:pt x="107462" y="1524000"/>
                  </a:lnTo>
                  <a:cubicBezTo>
                    <a:pt x="78961" y="1524000"/>
                    <a:pt x="51628" y="1512678"/>
                    <a:pt x="31475" y="1492525"/>
                  </a:cubicBezTo>
                  <a:cubicBezTo>
                    <a:pt x="11322" y="1472372"/>
                    <a:pt x="0" y="1445039"/>
                    <a:pt x="0" y="1416538"/>
                  </a:cubicBezTo>
                  <a:lnTo>
                    <a:pt x="0" y="107462"/>
                  </a:lnTo>
                  <a:cubicBezTo>
                    <a:pt x="0" y="78961"/>
                    <a:pt x="11322" y="51628"/>
                    <a:pt x="31475" y="31475"/>
                  </a:cubicBezTo>
                  <a:cubicBezTo>
                    <a:pt x="51628" y="11322"/>
                    <a:pt x="78961" y="0"/>
                    <a:pt x="107462" y="0"/>
                  </a:cubicBezTo>
                  <a:close/>
                </a:path>
              </a:pathLst>
            </a:custGeom>
            <a:solidFill>
              <a:srgbClr val="ED8A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3302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Auth (cuentas)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58250" y="3905250"/>
            <a:ext cx="2476500" cy="1143000"/>
            <a:chOff x="0" y="0"/>
            <a:chExt cx="3302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107462" y="0"/>
                  </a:moveTo>
                  <a:lnTo>
                    <a:pt x="3194539" y="0"/>
                  </a:lnTo>
                  <a:cubicBezTo>
                    <a:pt x="3223039" y="0"/>
                    <a:pt x="3250372" y="11322"/>
                    <a:pt x="3270525" y="31475"/>
                  </a:cubicBezTo>
                  <a:cubicBezTo>
                    <a:pt x="3290678" y="51628"/>
                    <a:pt x="3302000" y="78961"/>
                    <a:pt x="3302000" y="107462"/>
                  </a:cubicBezTo>
                  <a:lnTo>
                    <a:pt x="3302000" y="1416538"/>
                  </a:lnTo>
                  <a:cubicBezTo>
                    <a:pt x="3302000" y="1445039"/>
                    <a:pt x="3290678" y="1472372"/>
                    <a:pt x="3270525" y="1492525"/>
                  </a:cubicBezTo>
                  <a:cubicBezTo>
                    <a:pt x="3250372" y="1512678"/>
                    <a:pt x="3223039" y="1524000"/>
                    <a:pt x="3194539" y="1524000"/>
                  </a:cubicBezTo>
                  <a:lnTo>
                    <a:pt x="107462" y="1524000"/>
                  </a:lnTo>
                  <a:cubicBezTo>
                    <a:pt x="78961" y="1524000"/>
                    <a:pt x="51628" y="1512678"/>
                    <a:pt x="31475" y="1492525"/>
                  </a:cubicBezTo>
                  <a:cubicBezTo>
                    <a:pt x="11322" y="1472372"/>
                    <a:pt x="0" y="1445039"/>
                    <a:pt x="0" y="1416538"/>
                  </a:cubicBezTo>
                  <a:lnTo>
                    <a:pt x="0" y="107462"/>
                  </a:lnTo>
                  <a:cubicBezTo>
                    <a:pt x="0" y="78961"/>
                    <a:pt x="11322" y="51628"/>
                    <a:pt x="31475" y="31475"/>
                  </a:cubicBezTo>
                  <a:cubicBezTo>
                    <a:pt x="51628" y="11322"/>
                    <a:pt x="78961" y="0"/>
                    <a:pt x="107462" y="0"/>
                  </a:cubicBezTo>
                  <a:close/>
                </a:path>
              </a:pathLst>
            </a:custGeom>
            <a:solidFill>
              <a:srgbClr val="ED8A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302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Mascotas + fotos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58250" y="5381625"/>
            <a:ext cx="2476500" cy="1143000"/>
            <a:chOff x="0" y="0"/>
            <a:chExt cx="3302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107462" y="0"/>
                  </a:moveTo>
                  <a:lnTo>
                    <a:pt x="3194539" y="0"/>
                  </a:lnTo>
                  <a:cubicBezTo>
                    <a:pt x="3223039" y="0"/>
                    <a:pt x="3250372" y="11322"/>
                    <a:pt x="3270525" y="31475"/>
                  </a:cubicBezTo>
                  <a:cubicBezTo>
                    <a:pt x="3290678" y="51628"/>
                    <a:pt x="3302000" y="78961"/>
                    <a:pt x="3302000" y="107462"/>
                  </a:cubicBezTo>
                  <a:lnTo>
                    <a:pt x="3302000" y="1416538"/>
                  </a:lnTo>
                  <a:cubicBezTo>
                    <a:pt x="3302000" y="1445039"/>
                    <a:pt x="3290678" y="1472372"/>
                    <a:pt x="3270525" y="1492525"/>
                  </a:cubicBezTo>
                  <a:cubicBezTo>
                    <a:pt x="3250372" y="1512678"/>
                    <a:pt x="3223039" y="1524000"/>
                    <a:pt x="3194539" y="1524000"/>
                  </a:cubicBezTo>
                  <a:lnTo>
                    <a:pt x="107462" y="1524000"/>
                  </a:lnTo>
                  <a:cubicBezTo>
                    <a:pt x="78961" y="1524000"/>
                    <a:pt x="51628" y="1512678"/>
                    <a:pt x="31475" y="1492525"/>
                  </a:cubicBezTo>
                  <a:cubicBezTo>
                    <a:pt x="11322" y="1472372"/>
                    <a:pt x="0" y="1445039"/>
                    <a:pt x="0" y="1416538"/>
                  </a:cubicBezTo>
                  <a:lnTo>
                    <a:pt x="0" y="107462"/>
                  </a:lnTo>
                  <a:cubicBezTo>
                    <a:pt x="0" y="78961"/>
                    <a:pt x="11322" y="51628"/>
                    <a:pt x="31475" y="31475"/>
                  </a:cubicBezTo>
                  <a:cubicBezTo>
                    <a:pt x="51628" y="11322"/>
                    <a:pt x="78961" y="0"/>
                    <a:pt x="107462" y="0"/>
                  </a:cubicBezTo>
                  <a:close/>
                </a:path>
              </a:pathLst>
            </a:custGeom>
            <a:solidFill>
              <a:srgbClr val="ED8A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302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1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Matching · Postulaciones · Seguimiento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525500" y="3333750"/>
            <a:ext cx="3143250" cy="1714500"/>
            <a:chOff x="0" y="0"/>
            <a:chExt cx="4191000" cy="228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191000">
                  <a:moveTo>
                    <a:pt x="84667" y="0"/>
                  </a:moveTo>
                  <a:lnTo>
                    <a:pt x="4106333" y="0"/>
                  </a:lnTo>
                  <a:cubicBezTo>
                    <a:pt x="4153093" y="0"/>
                    <a:pt x="4191000" y="37907"/>
                    <a:pt x="4191000" y="84667"/>
                  </a:cubicBezTo>
                  <a:lnTo>
                    <a:pt x="4191000" y="2201333"/>
                  </a:lnTo>
                  <a:cubicBezTo>
                    <a:pt x="4191000" y="2248093"/>
                    <a:pt x="4153093" y="2286000"/>
                    <a:pt x="4106333" y="2286000"/>
                  </a:cubicBezTo>
                  <a:lnTo>
                    <a:pt x="84667" y="2286000"/>
                  </a:lnTo>
                  <a:cubicBezTo>
                    <a:pt x="37907" y="2286000"/>
                    <a:pt x="0" y="2248093"/>
                    <a:pt x="0" y="2201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6F887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4191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PostgreSQL (Neon)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 tablas compartidas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3619500" y="4000500"/>
            <a:ext cx="1143000" cy="0"/>
          </a:xfrm>
          <a:prstGeom prst="line">
            <a:avLst/>
          </a:prstGeom>
          <a:ln cap="flat" w="47625">
            <a:solidFill>
              <a:srgbClr val="F2D7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7620000" y="3000375"/>
            <a:ext cx="1238250" cy="1000125"/>
          </a:xfrm>
          <a:prstGeom prst="line">
            <a:avLst/>
          </a:prstGeom>
          <a:ln cap="flat" w="38100">
            <a:solidFill>
              <a:srgbClr val="F2D7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334750" y="3000375"/>
            <a:ext cx="2190750" cy="1190625"/>
          </a:xfrm>
          <a:prstGeom prst="line">
            <a:avLst/>
          </a:prstGeom>
          <a:ln cap="flat" w="38100">
            <a:solidFill>
              <a:srgbClr val="6F88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7620000" y="4000500"/>
            <a:ext cx="1238250" cy="476250"/>
          </a:xfrm>
          <a:prstGeom prst="line">
            <a:avLst/>
          </a:prstGeom>
          <a:ln cap="flat" w="38100">
            <a:solidFill>
              <a:srgbClr val="F2D7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334750" y="4191000"/>
            <a:ext cx="2190750" cy="285750"/>
          </a:xfrm>
          <a:prstGeom prst="line">
            <a:avLst/>
          </a:prstGeom>
          <a:ln cap="flat" w="38100">
            <a:solidFill>
              <a:srgbClr val="6F88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620000" y="4000500"/>
            <a:ext cx="1238250" cy="1952625"/>
          </a:xfrm>
          <a:prstGeom prst="line">
            <a:avLst/>
          </a:prstGeom>
          <a:ln cap="flat" w="38100">
            <a:solidFill>
              <a:srgbClr val="F2D7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1334750" y="4191000"/>
            <a:ext cx="2190750" cy="1762125"/>
          </a:xfrm>
          <a:prstGeom prst="line">
            <a:avLst/>
          </a:prstGeom>
          <a:ln cap="flat" w="38100">
            <a:solidFill>
              <a:srgbClr val="6F88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66800" y="1666875"/>
            <a:ext cx="1428750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2D7BD"/>
                </a:solidFill>
                <a:latin typeface="Arimo"/>
                <a:ea typeface="Arimo"/>
                <a:cs typeface="Arimo"/>
                <a:sym typeface="Arimo"/>
              </a:rPr>
              <a:t>Microservicios: cada parte del negocio es un servicio independiente; si uno falla, los demás siguen.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000" y="7058025"/>
            <a:ext cx="7810500" cy="177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7ED"/>
                </a:solidFill>
                <a:latin typeface="Arimo"/>
                <a:ea typeface="Arimo"/>
                <a:cs typeface="Arimo"/>
                <a:sym typeface="Arimo"/>
              </a:rPr>
              <a:t>• Frontend: 17 pantallas para adoptante y refugio.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7ED"/>
                </a:solidFill>
                <a:latin typeface="Arimo"/>
                <a:ea typeface="Arimo"/>
                <a:cs typeface="Arimo"/>
                <a:sym typeface="Arimo"/>
              </a:rPr>
              <a:t>• API Gateway: única puerta de entrada; valida la sesión (JWT) antes de dejar pasar la petición.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7ED"/>
                </a:solidFill>
                <a:latin typeface="Arimo"/>
                <a:ea typeface="Arimo"/>
                <a:cs typeface="Arimo"/>
                <a:sym typeface="Arimo"/>
              </a:rPr>
              <a:t>• 5 servicios: auth, mascotas (catálogo y fotos), matching, postulaciones y seguimiento.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20250" y="7058025"/>
            <a:ext cx="7429500" cy="107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7ED"/>
                </a:solidFill>
                <a:latin typeface="Arimo"/>
                <a:ea typeface="Arimo"/>
                <a:cs typeface="Arimo"/>
                <a:sym typeface="Arimo"/>
              </a:rPr>
              <a:t>• Base compartida: permite cruzar datos para el futuro modelo de ML.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7ED"/>
                </a:solidFill>
                <a:latin typeface="Arimo"/>
                <a:ea typeface="Arimo"/>
                <a:cs typeface="Arimo"/>
                <a:sym typeface="Arimo"/>
              </a:rPr>
              <a:t>• Deploy automático: cada push a main publica la app en Render vía GitHub Action.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819150"/>
            <a:ext cx="123825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Cómo funciona: adoptante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704975"/>
            <a:ext cx="1428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796B63"/>
                </a:solidFill>
                <a:latin typeface="Open Sans"/>
                <a:ea typeface="Open Sans"/>
                <a:cs typeface="Open Sans"/>
                <a:sym typeface="Open Sans"/>
              </a:rPr>
              <a:t>El adoptante no elige por la foto: primero cuenta cómo vive y luego ve qué mascotas le calzan.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00125" y="4317157"/>
            <a:ext cx="2094974" cy="1159718"/>
            <a:chOff x="0" y="0"/>
            <a:chExt cx="3556000" cy="196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127032" y="0"/>
                  </a:moveTo>
                  <a:lnTo>
                    <a:pt x="3428968" y="0"/>
                  </a:lnTo>
                  <a:cubicBezTo>
                    <a:pt x="3499126" y="0"/>
                    <a:pt x="3556000" y="56874"/>
                    <a:pt x="3556000" y="127032"/>
                  </a:cubicBezTo>
                  <a:lnTo>
                    <a:pt x="3556000" y="1841468"/>
                  </a:lnTo>
                  <a:cubicBezTo>
                    <a:pt x="3556000" y="1911626"/>
                    <a:pt x="3499126" y="1968500"/>
                    <a:pt x="3428968" y="1968500"/>
                  </a:cubicBezTo>
                  <a:lnTo>
                    <a:pt x="127032" y="1968500"/>
                  </a:lnTo>
                  <a:cubicBezTo>
                    <a:pt x="56874" y="1968500"/>
                    <a:pt x="0" y="1911626"/>
                    <a:pt x="0" y="1841468"/>
                  </a:cubicBezTo>
                  <a:lnTo>
                    <a:pt x="0" y="127032"/>
                  </a:lnTo>
                  <a:cubicBezTo>
                    <a:pt x="0" y="56874"/>
                    <a:pt x="56874" y="0"/>
                    <a:pt x="1270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Registrarse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095099" y="4900757"/>
            <a:ext cx="523743" cy="0"/>
          </a:xfrm>
          <a:prstGeom prst="line">
            <a:avLst/>
          </a:prstGeom>
          <a:ln cap="flat" w="38100">
            <a:solidFill>
              <a:srgbClr val="ED8A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516554" y="4344711"/>
            <a:ext cx="2094974" cy="1159718"/>
            <a:chOff x="0" y="0"/>
            <a:chExt cx="3556000" cy="19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127032" y="0"/>
                  </a:moveTo>
                  <a:lnTo>
                    <a:pt x="3428968" y="0"/>
                  </a:lnTo>
                  <a:cubicBezTo>
                    <a:pt x="3499126" y="0"/>
                    <a:pt x="3556000" y="56874"/>
                    <a:pt x="3556000" y="127032"/>
                  </a:cubicBezTo>
                  <a:lnTo>
                    <a:pt x="3556000" y="1841468"/>
                  </a:lnTo>
                  <a:cubicBezTo>
                    <a:pt x="3556000" y="1911626"/>
                    <a:pt x="3499126" y="1968500"/>
                    <a:pt x="3428968" y="1968500"/>
                  </a:cubicBezTo>
                  <a:lnTo>
                    <a:pt x="127032" y="1968500"/>
                  </a:lnTo>
                  <a:cubicBezTo>
                    <a:pt x="56874" y="1968500"/>
                    <a:pt x="0" y="1911626"/>
                    <a:pt x="0" y="1841468"/>
                  </a:cubicBezTo>
                  <a:lnTo>
                    <a:pt x="0" y="127032"/>
                  </a:lnTo>
                  <a:cubicBezTo>
                    <a:pt x="0" y="56874"/>
                    <a:pt x="56874" y="0"/>
                    <a:pt x="1270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556000" cy="195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Recomendación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611528" y="4928311"/>
            <a:ext cx="523743" cy="0"/>
          </a:xfrm>
          <a:prstGeom prst="line">
            <a:avLst/>
          </a:prstGeom>
          <a:ln cap="flat" w="38100">
            <a:solidFill>
              <a:srgbClr val="ED8A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210092" y="4344711"/>
            <a:ext cx="2094974" cy="1159718"/>
            <a:chOff x="0" y="0"/>
            <a:chExt cx="3556000" cy="196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127032" y="0"/>
                  </a:moveTo>
                  <a:lnTo>
                    <a:pt x="3428968" y="0"/>
                  </a:lnTo>
                  <a:cubicBezTo>
                    <a:pt x="3499126" y="0"/>
                    <a:pt x="3556000" y="56874"/>
                    <a:pt x="3556000" y="127032"/>
                  </a:cubicBezTo>
                  <a:lnTo>
                    <a:pt x="3556000" y="1841468"/>
                  </a:lnTo>
                  <a:cubicBezTo>
                    <a:pt x="3556000" y="1911626"/>
                    <a:pt x="3499126" y="1968500"/>
                    <a:pt x="3428968" y="1968500"/>
                  </a:cubicBezTo>
                  <a:lnTo>
                    <a:pt x="127032" y="1968500"/>
                  </a:lnTo>
                  <a:cubicBezTo>
                    <a:pt x="56874" y="1968500"/>
                    <a:pt x="0" y="1911626"/>
                    <a:pt x="0" y="1841468"/>
                  </a:cubicBezTo>
                  <a:lnTo>
                    <a:pt x="0" y="127032"/>
                  </a:lnTo>
                  <a:cubicBezTo>
                    <a:pt x="0" y="56874"/>
                    <a:pt x="56874" y="0"/>
                    <a:pt x="1270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Explorar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305065" y="4928311"/>
            <a:ext cx="523743" cy="0"/>
          </a:xfrm>
          <a:prstGeom prst="line">
            <a:avLst/>
          </a:prstGeom>
          <a:ln cap="flat" w="38100">
            <a:solidFill>
              <a:srgbClr val="ED8A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903629" y="4344711"/>
            <a:ext cx="2094974" cy="1159718"/>
            <a:chOff x="0" y="0"/>
            <a:chExt cx="3556000" cy="196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127032" y="0"/>
                  </a:moveTo>
                  <a:lnTo>
                    <a:pt x="3428968" y="0"/>
                  </a:lnTo>
                  <a:cubicBezTo>
                    <a:pt x="3499126" y="0"/>
                    <a:pt x="3556000" y="56874"/>
                    <a:pt x="3556000" y="127032"/>
                  </a:cubicBezTo>
                  <a:lnTo>
                    <a:pt x="3556000" y="1841468"/>
                  </a:lnTo>
                  <a:cubicBezTo>
                    <a:pt x="3556000" y="1911626"/>
                    <a:pt x="3499126" y="1968500"/>
                    <a:pt x="3428968" y="1968500"/>
                  </a:cubicBezTo>
                  <a:lnTo>
                    <a:pt x="127032" y="1968500"/>
                  </a:lnTo>
                  <a:cubicBezTo>
                    <a:pt x="56874" y="1968500"/>
                    <a:pt x="0" y="1911626"/>
                    <a:pt x="0" y="1841468"/>
                  </a:cubicBezTo>
                  <a:lnTo>
                    <a:pt x="0" y="127032"/>
                  </a:lnTo>
                  <a:cubicBezTo>
                    <a:pt x="0" y="56874"/>
                    <a:pt x="56874" y="0"/>
                    <a:pt x="1270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Postular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998603" y="4928311"/>
            <a:ext cx="523743" cy="0"/>
          </a:xfrm>
          <a:prstGeom prst="line">
            <a:avLst/>
          </a:prstGeom>
          <a:ln cap="flat" w="38100">
            <a:solidFill>
              <a:srgbClr val="ED8A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487575" y="4348452"/>
            <a:ext cx="2094974" cy="1159718"/>
            <a:chOff x="0" y="0"/>
            <a:chExt cx="3556000" cy="196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127032" y="0"/>
                  </a:moveTo>
                  <a:lnTo>
                    <a:pt x="3428968" y="0"/>
                  </a:lnTo>
                  <a:cubicBezTo>
                    <a:pt x="3499126" y="0"/>
                    <a:pt x="3556000" y="56874"/>
                    <a:pt x="3556000" y="127032"/>
                  </a:cubicBezTo>
                  <a:lnTo>
                    <a:pt x="3556000" y="1841468"/>
                  </a:lnTo>
                  <a:cubicBezTo>
                    <a:pt x="3556000" y="1911626"/>
                    <a:pt x="3499126" y="1968500"/>
                    <a:pt x="3428968" y="1968500"/>
                  </a:cubicBezTo>
                  <a:lnTo>
                    <a:pt x="127032" y="1968500"/>
                  </a:lnTo>
                  <a:cubicBezTo>
                    <a:pt x="56874" y="1968500"/>
                    <a:pt x="0" y="1911626"/>
                    <a:pt x="0" y="1841468"/>
                  </a:cubicBezTo>
                  <a:lnTo>
                    <a:pt x="0" y="127032"/>
                  </a:lnTo>
                  <a:cubicBezTo>
                    <a:pt x="0" y="56874"/>
                    <a:pt x="56874" y="0"/>
                    <a:pt x="127032" y="0"/>
                  </a:cubicBezTo>
                  <a:close/>
                </a:path>
              </a:pathLst>
            </a:custGeom>
            <a:solidFill>
              <a:srgbClr val="C75B39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Seguir estado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741015" y="7334250"/>
            <a:ext cx="841534" cy="687705"/>
            <a:chOff x="0" y="0"/>
            <a:chExt cx="1122045" cy="91694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229235" y="410210"/>
              <a:ext cx="554990" cy="506730"/>
              <a:chOff x="0" y="0"/>
              <a:chExt cx="554990" cy="50673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54990" cy="506730"/>
              </a:xfrm>
              <a:custGeom>
                <a:avLst/>
                <a:gdLst/>
                <a:ahLst/>
                <a:cxnLst/>
                <a:rect r="r" b="b" t="t" l="l"/>
                <a:pathLst>
                  <a:path h="506730" w="554990">
                    <a:moveTo>
                      <a:pt x="277495" y="0"/>
                    </a:moveTo>
                    <a:cubicBezTo>
                      <a:pt x="430751" y="0"/>
                      <a:pt x="554990" y="113435"/>
                      <a:pt x="554990" y="253365"/>
                    </a:cubicBezTo>
                    <a:cubicBezTo>
                      <a:pt x="554990" y="393295"/>
                      <a:pt x="430751" y="506730"/>
                      <a:pt x="277495" y="506730"/>
                    </a:cubicBezTo>
                    <a:cubicBezTo>
                      <a:pt x="124239" y="506730"/>
                      <a:pt x="0" y="393295"/>
                      <a:pt x="0" y="253365"/>
                    </a:cubicBezTo>
                    <a:cubicBezTo>
                      <a:pt x="0" y="113435"/>
                      <a:pt x="124239" y="0"/>
                      <a:pt x="277495" y="0"/>
                    </a:cubicBezTo>
                    <a:close/>
                  </a:path>
                </a:pathLst>
              </a:custGeom>
              <a:solidFill>
                <a:srgbClr val="F2D7B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554990" cy="544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96520"/>
              <a:ext cx="241300" cy="301625"/>
              <a:chOff x="0" y="0"/>
              <a:chExt cx="241300" cy="30162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41300" cy="301625"/>
              </a:xfrm>
              <a:custGeom>
                <a:avLst/>
                <a:gdLst/>
                <a:ahLst/>
                <a:cxnLst/>
                <a:rect r="r" b="b" t="t" l="l"/>
                <a:pathLst>
                  <a:path h="301625" w="241300">
                    <a:moveTo>
                      <a:pt x="120650" y="0"/>
                    </a:moveTo>
                    <a:cubicBezTo>
                      <a:pt x="187283" y="0"/>
                      <a:pt x="241300" y="67521"/>
                      <a:pt x="241300" y="150812"/>
                    </a:cubicBezTo>
                    <a:cubicBezTo>
                      <a:pt x="241300" y="234104"/>
                      <a:pt x="187283" y="301625"/>
                      <a:pt x="120650" y="301625"/>
                    </a:cubicBezTo>
                    <a:cubicBezTo>
                      <a:pt x="54017" y="301625"/>
                      <a:pt x="0" y="234104"/>
                      <a:pt x="0" y="150812"/>
                    </a:cubicBezTo>
                    <a:cubicBezTo>
                      <a:pt x="0" y="67521"/>
                      <a:pt x="54017" y="0"/>
                      <a:pt x="120650" y="0"/>
                    </a:cubicBezTo>
                    <a:close/>
                  </a:path>
                </a:pathLst>
              </a:custGeom>
              <a:solidFill>
                <a:srgbClr val="F2D7B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41300" cy="339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77495" y="0"/>
              <a:ext cx="241300" cy="301625"/>
              <a:chOff x="0" y="0"/>
              <a:chExt cx="241300" cy="30162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41300" cy="301625"/>
              </a:xfrm>
              <a:custGeom>
                <a:avLst/>
                <a:gdLst/>
                <a:ahLst/>
                <a:cxnLst/>
                <a:rect r="r" b="b" t="t" l="l"/>
                <a:pathLst>
                  <a:path h="301625" w="241300">
                    <a:moveTo>
                      <a:pt x="120650" y="0"/>
                    </a:moveTo>
                    <a:cubicBezTo>
                      <a:pt x="187283" y="0"/>
                      <a:pt x="241300" y="67521"/>
                      <a:pt x="241300" y="150812"/>
                    </a:cubicBezTo>
                    <a:cubicBezTo>
                      <a:pt x="241300" y="234104"/>
                      <a:pt x="187283" y="301625"/>
                      <a:pt x="120650" y="301625"/>
                    </a:cubicBezTo>
                    <a:cubicBezTo>
                      <a:pt x="54017" y="301625"/>
                      <a:pt x="0" y="234104"/>
                      <a:pt x="0" y="150812"/>
                    </a:cubicBezTo>
                    <a:cubicBezTo>
                      <a:pt x="0" y="67521"/>
                      <a:pt x="54017" y="0"/>
                      <a:pt x="120650" y="0"/>
                    </a:cubicBezTo>
                    <a:close/>
                  </a:path>
                </a:pathLst>
              </a:custGeom>
              <a:solidFill>
                <a:srgbClr val="F2D7B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41300" cy="339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603250" y="0"/>
              <a:ext cx="241300" cy="301625"/>
              <a:chOff x="0" y="0"/>
              <a:chExt cx="241300" cy="30162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41300" cy="301625"/>
              </a:xfrm>
              <a:custGeom>
                <a:avLst/>
                <a:gdLst/>
                <a:ahLst/>
                <a:cxnLst/>
                <a:rect r="r" b="b" t="t" l="l"/>
                <a:pathLst>
                  <a:path h="301625" w="241300">
                    <a:moveTo>
                      <a:pt x="120650" y="0"/>
                    </a:moveTo>
                    <a:cubicBezTo>
                      <a:pt x="187283" y="0"/>
                      <a:pt x="241300" y="67521"/>
                      <a:pt x="241300" y="150812"/>
                    </a:cubicBezTo>
                    <a:cubicBezTo>
                      <a:pt x="241300" y="234104"/>
                      <a:pt x="187283" y="301625"/>
                      <a:pt x="120650" y="301625"/>
                    </a:cubicBezTo>
                    <a:cubicBezTo>
                      <a:pt x="54017" y="301625"/>
                      <a:pt x="0" y="234104"/>
                      <a:pt x="0" y="150812"/>
                    </a:cubicBezTo>
                    <a:cubicBezTo>
                      <a:pt x="0" y="67521"/>
                      <a:pt x="54017" y="0"/>
                      <a:pt x="120650" y="0"/>
                    </a:cubicBezTo>
                    <a:close/>
                  </a:path>
                </a:pathLst>
              </a:custGeom>
              <a:solidFill>
                <a:srgbClr val="F2D7B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41300" cy="339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880745" y="96520"/>
              <a:ext cx="241300" cy="301625"/>
              <a:chOff x="0" y="0"/>
              <a:chExt cx="241300" cy="30162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41300" cy="301625"/>
              </a:xfrm>
              <a:custGeom>
                <a:avLst/>
                <a:gdLst/>
                <a:ahLst/>
                <a:cxnLst/>
                <a:rect r="r" b="b" t="t" l="l"/>
                <a:pathLst>
                  <a:path h="301625" w="241300">
                    <a:moveTo>
                      <a:pt x="120650" y="0"/>
                    </a:moveTo>
                    <a:cubicBezTo>
                      <a:pt x="187283" y="0"/>
                      <a:pt x="241300" y="67521"/>
                      <a:pt x="241300" y="150812"/>
                    </a:cubicBezTo>
                    <a:cubicBezTo>
                      <a:pt x="241300" y="234104"/>
                      <a:pt x="187283" y="301625"/>
                      <a:pt x="120650" y="301625"/>
                    </a:cubicBezTo>
                    <a:cubicBezTo>
                      <a:pt x="54017" y="301625"/>
                      <a:pt x="0" y="234104"/>
                      <a:pt x="0" y="150812"/>
                    </a:cubicBezTo>
                    <a:cubicBezTo>
                      <a:pt x="0" y="67521"/>
                      <a:pt x="54017" y="0"/>
                      <a:pt x="120650" y="0"/>
                    </a:cubicBezTo>
                    <a:close/>
                  </a:path>
                </a:pathLst>
              </a:custGeom>
              <a:solidFill>
                <a:srgbClr val="F2D7B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41300" cy="339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3618842" y="4241878"/>
            <a:ext cx="2230962" cy="1234997"/>
            <a:chOff x="0" y="0"/>
            <a:chExt cx="3556000" cy="1968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119289" y="0"/>
                  </a:moveTo>
                  <a:lnTo>
                    <a:pt x="3436712" y="0"/>
                  </a:lnTo>
                  <a:cubicBezTo>
                    <a:pt x="3502593" y="0"/>
                    <a:pt x="3556000" y="53407"/>
                    <a:pt x="3556000" y="119289"/>
                  </a:cubicBezTo>
                  <a:lnTo>
                    <a:pt x="3556000" y="1849211"/>
                  </a:lnTo>
                  <a:cubicBezTo>
                    <a:pt x="3556000" y="1915093"/>
                    <a:pt x="3502593" y="1968500"/>
                    <a:pt x="3436712" y="1968500"/>
                  </a:cubicBezTo>
                  <a:lnTo>
                    <a:pt x="119289" y="1968500"/>
                  </a:lnTo>
                  <a:cubicBezTo>
                    <a:pt x="53407" y="1968500"/>
                    <a:pt x="0" y="1915093"/>
                    <a:pt x="0" y="1849211"/>
                  </a:cubicBezTo>
                  <a:lnTo>
                    <a:pt x="0" y="119289"/>
                  </a:lnTo>
                  <a:cubicBezTo>
                    <a:pt x="0" y="53407"/>
                    <a:pt x="53407" y="0"/>
                    <a:pt x="11928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Cuestionario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5849804" y="4924570"/>
            <a:ext cx="666750" cy="0"/>
          </a:xfrm>
          <a:prstGeom prst="line">
            <a:avLst/>
          </a:prstGeom>
          <a:ln cap="flat" w="47625">
            <a:solidFill>
              <a:srgbClr val="ED8A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000125" y="5724525"/>
            <a:ext cx="2095500" cy="54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Con email y contraseña.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619500" y="5724525"/>
            <a:ext cx="2228850" cy="107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5 pasos: vivienda, horas fuera, tiempo para pasear, experiencia, niños y otras mascotas.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515100" y="5724525"/>
            <a:ext cx="2095500" cy="107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Ordenadas por %, con el desglose de cada criterio: por qué le sale ese número.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10675" y="5724525"/>
            <a:ext cx="2095500" cy="134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Ve todas las mascotas; las “No compatibles” muestran el motivo (ej. “no convive con gatos”).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06250" y="5724525"/>
            <a:ext cx="2095500" cy="80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Envía su postulación con el cuestionario ya completo.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87525" y="5724525"/>
            <a:ext cx="2095500" cy="54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Revisa el avance en “Mis solicitudes”.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819150"/>
            <a:ext cx="123825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Cómo funciona: refugio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704975"/>
            <a:ext cx="8572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796B63"/>
                </a:solidFill>
                <a:latin typeface="Open Sans"/>
                <a:ea typeface="Open Sans"/>
                <a:cs typeface="Open Sans"/>
                <a:sym typeface="Open Sans"/>
              </a:rPr>
              <a:t>El refugio decide con información, no solo con una entrevista.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00125" y="4000500"/>
            <a:ext cx="2667000" cy="1476375"/>
            <a:chOff x="0" y="0"/>
            <a:chExt cx="3556000" cy="196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99786" y="0"/>
                  </a:moveTo>
                  <a:lnTo>
                    <a:pt x="3456214" y="0"/>
                  </a:lnTo>
                  <a:cubicBezTo>
                    <a:pt x="3511324" y="0"/>
                    <a:pt x="3556000" y="44676"/>
                    <a:pt x="3556000" y="99786"/>
                  </a:cubicBezTo>
                  <a:lnTo>
                    <a:pt x="3556000" y="1868714"/>
                  </a:lnTo>
                  <a:cubicBezTo>
                    <a:pt x="3556000" y="1923824"/>
                    <a:pt x="3511324" y="1968500"/>
                    <a:pt x="3456214" y="1968500"/>
                  </a:cubicBezTo>
                  <a:lnTo>
                    <a:pt x="99786" y="1968500"/>
                  </a:lnTo>
                  <a:cubicBezTo>
                    <a:pt x="44676" y="1968500"/>
                    <a:pt x="0" y="1923824"/>
                    <a:pt x="0" y="1868714"/>
                  </a:cubicBezTo>
                  <a:lnTo>
                    <a:pt x="0" y="99786"/>
                  </a:lnTo>
                  <a:cubicBezTo>
                    <a:pt x="0" y="44676"/>
                    <a:pt x="44676" y="0"/>
                    <a:pt x="9978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Ingresar con RUT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667125" y="4743450"/>
            <a:ext cx="666750" cy="0"/>
          </a:xfrm>
          <a:prstGeom prst="line">
            <a:avLst/>
          </a:prstGeom>
          <a:ln cap="flat" w="47625">
            <a:solidFill>
              <a:srgbClr val="C75B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429125" y="4000500"/>
            <a:ext cx="2667000" cy="1476375"/>
            <a:chOff x="0" y="0"/>
            <a:chExt cx="3556000" cy="19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99786" y="0"/>
                  </a:moveTo>
                  <a:lnTo>
                    <a:pt x="3456214" y="0"/>
                  </a:lnTo>
                  <a:cubicBezTo>
                    <a:pt x="3511324" y="0"/>
                    <a:pt x="3556000" y="44676"/>
                    <a:pt x="3556000" y="99786"/>
                  </a:cubicBezTo>
                  <a:lnTo>
                    <a:pt x="3556000" y="1868714"/>
                  </a:lnTo>
                  <a:cubicBezTo>
                    <a:pt x="3556000" y="1923824"/>
                    <a:pt x="3511324" y="1968500"/>
                    <a:pt x="3456214" y="1968500"/>
                  </a:cubicBezTo>
                  <a:lnTo>
                    <a:pt x="99786" y="1968500"/>
                  </a:lnTo>
                  <a:cubicBezTo>
                    <a:pt x="44676" y="1968500"/>
                    <a:pt x="0" y="1923824"/>
                    <a:pt x="0" y="1868714"/>
                  </a:cubicBezTo>
                  <a:lnTo>
                    <a:pt x="0" y="99786"/>
                  </a:lnTo>
                  <a:cubicBezTo>
                    <a:pt x="0" y="44676"/>
                    <a:pt x="44676" y="0"/>
                    <a:pt x="9978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Publicar mascota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096125" y="4743450"/>
            <a:ext cx="666750" cy="0"/>
          </a:xfrm>
          <a:prstGeom prst="line">
            <a:avLst/>
          </a:prstGeom>
          <a:ln cap="flat" w="47625">
            <a:solidFill>
              <a:srgbClr val="C75B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858125" y="4000500"/>
            <a:ext cx="2667000" cy="1476375"/>
            <a:chOff x="0" y="0"/>
            <a:chExt cx="3556000" cy="196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99786" y="0"/>
                  </a:moveTo>
                  <a:lnTo>
                    <a:pt x="3456214" y="0"/>
                  </a:lnTo>
                  <a:cubicBezTo>
                    <a:pt x="3511324" y="0"/>
                    <a:pt x="3556000" y="44676"/>
                    <a:pt x="3556000" y="99786"/>
                  </a:cubicBezTo>
                  <a:lnTo>
                    <a:pt x="3556000" y="1868714"/>
                  </a:lnTo>
                  <a:cubicBezTo>
                    <a:pt x="3556000" y="1923824"/>
                    <a:pt x="3511324" y="1968500"/>
                    <a:pt x="3456214" y="1968500"/>
                  </a:cubicBezTo>
                  <a:lnTo>
                    <a:pt x="99786" y="1968500"/>
                  </a:lnTo>
                  <a:cubicBezTo>
                    <a:pt x="44676" y="1968500"/>
                    <a:pt x="0" y="1923824"/>
                    <a:pt x="0" y="1868714"/>
                  </a:cubicBezTo>
                  <a:lnTo>
                    <a:pt x="0" y="99786"/>
                  </a:lnTo>
                  <a:cubicBezTo>
                    <a:pt x="0" y="44676"/>
                    <a:pt x="44676" y="0"/>
                    <a:pt x="99786" y="0"/>
                  </a:cubicBezTo>
                  <a:close/>
                </a:path>
              </a:pathLst>
            </a:custGeom>
            <a:solidFill>
              <a:srgbClr val="ED8A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Recibir postulaciones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525125" y="4743450"/>
            <a:ext cx="666750" cy="0"/>
          </a:xfrm>
          <a:prstGeom prst="line">
            <a:avLst/>
          </a:prstGeom>
          <a:ln cap="flat" w="47625">
            <a:solidFill>
              <a:srgbClr val="C75B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287125" y="4000500"/>
            <a:ext cx="2667000" cy="1476375"/>
            <a:chOff x="0" y="0"/>
            <a:chExt cx="3556000" cy="196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99786" y="0"/>
                  </a:moveTo>
                  <a:lnTo>
                    <a:pt x="3456214" y="0"/>
                  </a:lnTo>
                  <a:cubicBezTo>
                    <a:pt x="3511324" y="0"/>
                    <a:pt x="3556000" y="44676"/>
                    <a:pt x="3556000" y="99786"/>
                  </a:cubicBezTo>
                  <a:lnTo>
                    <a:pt x="3556000" y="1868714"/>
                  </a:lnTo>
                  <a:cubicBezTo>
                    <a:pt x="3556000" y="1923824"/>
                    <a:pt x="3511324" y="1968500"/>
                    <a:pt x="3456214" y="1968500"/>
                  </a:cubicBezTo>
                  <a:lnTo>
                    <a:pt x="99786" y="1968500"/>
                  </a:lnTo>
                  <a:cubicBezTo>
                    <a:pt x="44676" y="1968500"/>
                    <a:pt x="0" y="1923824"/>
                    <a:pt x="0" y="1868714"/>
                  </a:cubicBezTo>
                  <a:lnTo>
                    <a:pt x="0" y="99786"/>
                  </a:lnTo>
                  <a:cubicBezTo>
                    <a:pt x="0" y="44676"/>
                    <a:pt x="44676" y="0"/>
                    <a:pt x="9978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Evaluar con el %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954125" y="4743450"/>
            <a:ext cx="666750" cy="0"/>
          </a:xfrm>
          <a:prstGeom prst="line">
            <a:avLst/>
          </a:prstGeom>
          <a:ln cap="flat" w="47625">
            <a:solidFill>
              <a:srgbClr val="C75B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716125" y="4000500"/>
            <a:ext cx="2667000" cy="1476375"/>
            <a:chOff x="0" y="0"/>
            <a:chExt cx="3556000" cy="196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556000">
                  <a:moveTo>
                    <a:pt x="99786" y="0"/>
                  </a:moveTo>
                  <a:lnTo>
                    <a:pt x="3456214" y="0"/>
                  </a:lnTo>
                  <a:cubicBezTo>
                    <a:pt x="3511324" y="0"/>
                    <a:pt x="3556000" y="44676"/>
                    <a:pt x="3556000" y="99786"/>
                  </a:cubicBezTo>
                  <a:lnTo>
                    <a:pt x="3556000" y="1868714"/>
                  </a:lnTo>
                  <a:cubicBezTo>
                    <a:pt x="3556000" y="1923824"/>
                    <a:pt x="3511324" y="1968500"/>
                    <a:pt x="3456214" y="1968500"/>
                  </a:cubicBezTo>
                  <a:lnTo>
                    <a:pt x="99786" y="1968500"/>
                  </a:lnTo>
                  <a:cubicBezTo>
                    <a:pt x="44676" y="1968500"/>
                    <a:pt x="0" y="1923824"/>
                    <a:pt x="0" y="1868714"/>
                  </a:cubicBezTo>
                  <a:lnTo>
                    <a:pt x="0" y="99786"/>
                  </a:lnTo>
                  <a:cubicBezTo>
                    <a:pt x="0" y="44676"/>
                    <a:pt x="44676" y="0"/>
                    <a:pt x="9978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3556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241B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Decidir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53000" y="8096250"/>
            <a:ext cx="8382000" cy="1047750"/>
            <a:chOff x="0" y="0"/>
            <a:chExt cx="11176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7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2D7B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176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143500" y="8448675"/>
            <a:ext cx="80010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1B17"/>
                </a:solidFill>
                <a:latin typeface="Open Sans"/>
                <a:ea typeface="Open Sans"/>
                <a:cs typeface="Open Sans"/>
                <a:sym typeface="Open Sans"/>
              </a:rPr>
              <a:t>Al aprobar a un adoptante, el sistema rechaza al resto automáticamente.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0125" y="5715000"/>
            <a:ext cx="2667000" cy="167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RUT de la organización + código de 6 dígitos al correo, sin contraseña. Solo organizaciones de rescate de la nómina SII (68 cargadas).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29125" y="5715000"/>
            <a:ext cx="2667000" cy="112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Ficha de comportamiento (energía, tolerancia a la soledad, convivencia) y fotos.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58125" y="5715000"/>
            <a:ext cx="2667000" cy="56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Llegan adoptantes que ya completaron el cuestionario.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87125" y="5715000"/>
            <a:ext cx="2667000" cy="112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Ve las respuestas del adoptante, el % de compatibilidad y su desglose.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16125" y="5715000"/>
            <a:ext cx="2667000" cy="56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41B17"/>
                </a:solidFill>
                <a:latin typeface="Arimo"/>
                <a:ea typeface="Arimo"/>
                <a:cs typeface="Arimo"/>
                <a:sym typeface="Arimo"/>
              </a:rPr>
              <a:t>Aprueba, rechaza o confirma la adopción.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4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90575"/>
            <a:ext cx="1285875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Motor de compatibilidad v2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3114675"/>
            <a:ext cx="5334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F2D7BD"/>
                </a:solidFill>
                <a:latin typeface="Open Sans"/>
                <a:ea typeface="Open Sans"/>
                <a:cs typeface="Open Sans"/>
                <a:sym typeface="Open Sans"/>
              </a:rPr>
              <a:t>Antes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F2D7BD"/>
                </a:solidFill>
                <a:latin typeface="Open Sans"/>
                <a:ea typeface="Open Sans"/>
                <a:cs typeface="Open Sans"/>
                <a:sym typeface="Open Sans"/>
              </a:rPr>
              <a:t>Promedio ponderado · 6 criterios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77250" y="2809875"/>
            <a:ext cx="2857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ED8A3D"/>
                </a:solidFill>
                <a:latin typeface="DM Sans Bold"/>
                <a:ea typeface="DM Sans Bold"/>
                <a:cs typeface="DM Sans Bold"/>
                <a:sym typeface="DM Sans Bold"/>
              </a:rPr>
              <a:t>Ahora</a:t>
            </a:r>
          </a:p>
        </p:txBody>
      </p:sp>
      <p:sp>
        <p:nvSpPr>
          <p:cNvPr name="AutoShape 5" id="5"/>
          <p:cNvSpPr/>
          <p:nvPr/>
        </p:nvSpPr>
        <p:spPr>
          <a:xfrm>
            <a:off x="6572250" y="4476750"/>
            <a:ext cx="1333500" cy="0"/>
          </a:xfrm>
          <a:prstGeom prst="line">
            <a:avLst/>
          </a:prstGeom>
          <a:ln cap="flat" w="57150">
            <a:solidFill>
              <a:srgbClr val="ED8A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477250" y="3667125"/>
            <a:ext cx="6858000" cy="1000125"/>
            <a:chOff x="0" y="0"/>
            <a:chExt cx="9144000" cy="133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9144000">
                  <a:moveTo>
                    <a:pt x="38806" y="0"/>
                  </a:moveTo>
                  <a:lnTo>
                    <a:pt x="9105195" y="0"/>
                  </a:lnTo>
                  <a:cubicBezTo>
                    <a:pt x="9126626" y="0"/>
                    <a:pt x="9144000" y="17374"/>
                    <a:pt x="9144000" y="38806"/>
                  </a:cubicBezTo>
                  <a:lnTo>
                    <a:pt x="9144000" y="1294694"/>
                  </a:lnTo>
                  <a:cubicBezTo>
                    <a:pt x="9144000" y="1316126"/>
                    <a:pt x="9126626" y="1333500"/>
                    <a:pt x="9105195" y="1333500"/>
                  </a:cubicBezTo>
                  <a:lnTo>
                    <a:pt x="38806" y="1333500"/>
                  </a:lnTo>
                  <a:cubicBezTo>
                    <a:pt x="17374" y="1333500"/>
                    <a:pt x="0" y="1316126"/>
                    <a:pt x="0" y="1294694"/>
                  </a:cubicBezTo>
                  <a:lnTo>
                    <a:pt x="0" y="38806"/>
                  </a:lnTo>
                  <a:cubicBezTo>
                    <a:pt x="0" y="17374"/>
                    <a:pt x="17374" y="0"/>
                    <a:pt x="38806" y="0"/>
                  </a:cubicBezTo>
                  <a:close/>
                </a:path>
              </a:pathLst>
            </a:custGeom>
            <a:solidFill>
              <a:srgbClr val="C75B39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144000" cy="135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7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Capa 1 · Exclusión: ¿es seguro?</a:t>
              </a:r>
            </a:p>
            <a:p>
              <a:pPr algn="ctr" marL="0" indent="0" lvl="0">
                <a:lnSpc>
                  <a:spcPts val="2047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Alergias, niños, otras mascotas, vivienda. Si falla, no se recomienda.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58250" y="4905375"/>
            <a:ext cx="6477000" cy="1000125"/>
            <a:chOff x="0" y="0"/>
            <a:chExt cx="8636000" cy="1333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6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8636000">
                  <a:moveTo>
                    <a:pt x="41088" y="0"/>
                  </a:moveTo>
                  <a:lnTo>
                    <a:pt x="8594912" y="0"/>
                  </a:lnTo>
                  <a:cubicBezTo>
                    <a:pt x="8617604" y="0"/>
                    <a:pt x="8636000" y="18396"/>
                    <a:pt x="8636000" y="41088"/>
                  </a:cubicBezTo>
                  <a:lnTo>
                    <a:pt x="8636000" y="1292412"/>
                  </a:lnTo>
                  <a:cubicBezTo>
                    <a:pt x="8636000" y="1315104"/>
                    <a:pt x="8617604" y="1333500"/>
                    <a:pt x="8594912" y="1333500"/>
                  </a:cubicBezTo>
                  <a:lnTo>
                    <a:pt x="41088" y="1333500"/>
                  </a:lnTo>
                  <a:cubicBezTo>
                    <a:pt x="18396" y="1333500"/>
                    <a:pt x="0" y="1315104"/>
                    <a:pt x="0" y="1292412"/>
                  </a:cubicBezTo>
                  <a:lnTo>
                    <a:pt x="0" y="41088"/>
                  </a:lnTo>
                  <a:cubicBezTo>
                    <a:pt x="0" y="18396"/>
                    <a:pt x="18396" y="0"/>
                    <a:pt x="41088" y="0"/>
                  </a:cubicBezTo>
                  <a:close/>
                </a:path>
              </a:pathLst>
            </a:custGeom>
            <a:solidFill>
              <a:srgbClr val="ED8A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636000" cy="133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Capa 2 · Compatibilidad: ¿puede cuidarla?</a:t>
              </a:r>
            </a:p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Soledad 30 % · actividad 25 % · experiencia 20 %</a:t>
              </a:r>
            </a:p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ambiente 15 % · espacio 10 %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39250" y="6143625"/>
            <a:ext cx="6096000" cy="1000125"/>
            <a:chOff x="0" y="0"/>
            <a:chExt cx="8128000" cy="133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8128000">
                  <a:moveTo>
                    <a:pt x="43656" y="0"/>
                  </a:moveTo>
                  <a:lnTo>
                    <a:pt x="8084344" y="0"/>
                  </a:lnTo>
                  <a:cubicBezTo>
                    <a:pt x="8108455" y="0"/>
                    <a:pt x="8128000" y="19546"/>
                    <a:pt x="8128000" y="43656"/>
                  </a:cubicBezTo>
                  <a:lnTo>
                    <a:pt x="8128000" y="1289844"/>
                  </a:lnTo>
                  <a:cubicBezTo>
                    <a:pt x="8128000" y="1313954"/>
                    <a:pt x="8108455" y="1333500"/>
                    <a:pt x="8084344" y="1333500"/>
                  </a:cubicBezTo>
                  <a:lnTo>
                    <a:pt x="43656" y="1333500"/>
                  </a:lnTo>
                  <a:cubicBezTo>
                    <a:pt x="19546" y="1333500"/>
                    <a:pt x="0" y="1313954"/>
                    <a:pt x="0" y="1289844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close/>
                </a:path>
              </a:pathLst>
            </a:custGeom>
            <a:solidFill>
              <a:srgbClr val="6F887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0" cy="135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7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Capa 3 · Preferencias: ¿es lo que busca?</a:t>
              </a:r>
            </a:p>
            <a:p>
              <a:pPr algn="ctr" marL="0" indent="0" lvl="0">
                <a:lnSpc>
                  <a:spcPts val="2047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Tamaño, edad y sexo solo ordenan la lista.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477250" y="7724775"/>
            <a:ext cx="8572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i="true" strike="noStrike" u="none">
                <a:solidFill>
                  <a:srgbClr val="F2D7B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Ejemplo: depto, sola 4–8 h, perro mediano de energía alta → 67,5 %.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800" y="1666875"/>
            <a:ext cx="1428750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2D7BD"/>
                </a:solidFill>
                <a:latin typeface="Arimo"/>
                <a:ea typeface="Arimo"/>
                <a:cs typeface="Arimo"/>
                <a:sym typeface="Arimo"/>
              </a:rPr>
              <a:t>Pasamos de un promedio a 3 capas: un riesgo grave no debe esconderse en un promedio.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4905375"/>
            <a:ext cx="514350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7ED"/>
                </a:solidFill>
                <a:latin typeface="Arimo"/>
                <a:ea typeface="Arimo"/>
                <a:cs typeface="Arimo"/>
                <a:sym typeface="Arimo"/>
              </a:rPr>
              <a:t>Regla de tope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7ED"/>
                </a:solidFill>
                <a:latin typeface="Arimo"/>
                <a:ea typeface="Arimo"/>
                <a:cs typeface="Arimo"/>
                <a:sym typeface="Arimo"/>
              </a:rPr>
              <a:t>Si un criterio queda en 0, el total no supera el 50 %.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819150"/>
            <a:ext cx="123825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Seguridad implementada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2667000"/>
            <a:ext cx="4857750" cy="2381250"/>
            <a:chOff x="0" y="0"/>
            <a:chExt cx="6477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C75B3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477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96050" y="2667000"/>
            <a:ext cx="4857750" cy="2381250"/>
            <a:chOff x="0" y="0"/>
            <a:chExt cx="6477000" cy="317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77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477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925300" y="2667000"/>
            <a:ext cx="4857750" cy="2381250"/>
            <a:chOff x="0" y="0"/>
            <a:chExt cx="6477000" cy="317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77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477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6800" y="5619750"/>
            <a:ext cx="4857750" cy="2381250"/>
            <a:chOff x="0" y="0"/>
            <a:chExt cx="6477000" cy="317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77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477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96050" y="5619750"/>
            <a:ext cx="4857750" cy="2381250"/>
            <a:chOff x="0" y="0"/>
            <a:chExt cx="64770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477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25300" y="5619750"/>
            <a:ext cx="4857750" cy="2381250"/>
            <a:chOff x="0" y="0"/>
            <a:chExt cx="6477000" cy="317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477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6850" y="2905125"/>
            <a:ext cx="4000500" cy="1463992"/>
            <a:chOff x="0" y="0"/>
            <a:chExt cx="5334000" cy="195199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47625"/>
              <a:ext cx="5334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Autenticación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60425"/>
              <a:ext cx="5334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27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FFF7ED"/>
                  </a:solidFill>
                  <a:latin typeface="Open Sans"/>
                  <a:ea typeface="Open Sans"/>
                  <a:cs typeface="Open Sans"/>
                  <a:sym typeface="Open Sans"/>
                </a:rPr>
                <a:t>Contraseñas cifradas con bcrypt; sesión JWT de 24 h validada en el gateway y en cada servicio.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96100" y="2905125"/>
            <a:ext cx="4000500" cy="1463992"/>
            <a:chOff x="0" y="0"/>
            <a:chExt cx="5334000" cy="195199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47625"/>
              <a:ext cx="5334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241B1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Anti fuerza bruta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860425"/>
              <a:ext cx="5334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27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241B17"/>
                  </a:solidFill>
                  <a:latin typeface="Open Sans"/>
                  <a:ea typeface="Open Sans"/>
                  <a:cs typeface="Open Sans"/>
                  <a:sym typeface="Open Sans"/>
                </a:rPr>
                <a:t>Bloqueo de 15 min tras 5 intentos fallidos; mensajes genéricos que no revelan si un correo existe.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25350" y="2905125"/>
            <a:ext cx="4000500" cy="1187768"/>
            <a:chOff x="0" y="0"/>
            <a:chExt cx="5334000" cy="158369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47625"/>
              <a:ext cx="5334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241B1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Acceso refugios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860425"/>
              <a:ext cx="5334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27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241B17"/>
                  </a:solidFill>
                  <a:latin typeface="Open Sans"/>
                  <a:ea typeface="Open Sans"/>
                  <a:cs typeface="Open Sans"/>
                  <a:sym typeface="Open Sans"/>
                </a:rPr>
                <a:t>Códigos de 10 min, de un solo uso y guardados con HMAC.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66850" y="5857875"/>
            <a:ext cx="4000500" cy="1187768"/>
            <a:chOff x="0" y="0"/>
            <a:chExt cx="5334000" cy="158369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47625"/>
              <a:ext cx="5334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241B1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Privacidad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860425"/>
              <a:ext cx="5334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27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241B17"/>
                  </a:solidFill>
                  <a:latin typeface="Open Sans"/>
                  <a:ea typeface="Open Sans"/>
                  <a:cs typeface="Open Sans"/>
                  <a:sym typeface="Open Sans"/>
                </a:rPr>
                <a:t>Teléfonos de contacto visibles solo cuando la postulación está aprobada.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96100" y="5857875"/>
            <a:ext cx="4000500" cy="1187768"/>
            <a:chOff x="0" y="0"/>
            <a:chExt cx="5334000" cy="1583690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47625"/>
              <a:ext cx="5334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241B1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Validación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860425"/>
              <a:ext cx="5334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27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241B17"/>
                  </a:solidFill>
                  <a:latin typeface="Open Sans"/>
                  <a:ea typeface="Open Sans"/>
                  <a:cs typeface="Open Sans"/>
                  <a:sym typeface="Open Sans"/>
                </a:rPr>
                <a:t>Reglas de contraseña aplicadas también en la API, no solo en el formulario.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25350" y="5857875"/>
            <a:ext cx="4000500" cy="1187768"/>
            <a:chOff x="0" y="0"/>
            <a:chExt cx="5334000" cy="1583690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47625"/>
              <a:ext cx="5334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241B1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Configuración segura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860425"/>
              <a:ext cx="5334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27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241B17"/>
                  </a:solidFill>
                  <a:latin typeface="Open Sans"/>
                  <a:ea typeface="Open Sans"/>
                  <a:cs typeface="Open Sans"/>
                  <a:sym typeface="Open Sans"/>
                </a:rPr>
                <a:t>Los servicios no arrancan si no hay clave JWT configurada.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4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90575"/>
            <a:ext cx="76200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Qué falta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638300"/>
            <a:ext cx="1428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2D7BD"/>
                </a:solidFill>
                <a:latin typeface="Open Sans"/>
                <a:ea typeface="Open Sans"/>
                <a:cs typeface="Open Sans"/>
                <a:sym typeface="Open Sans"/>
              </a:rPr>
              <a:t>Lo pendiente ya tiene la base hecha: varias pantallas solo esperan su interfaz.</a:t>
            </a:r>
          </a:p>
        </p:txBody>
      </p:sp>
      <p:sp>
        <p:nvSpPr>
          <p:cNvPr name="AutoShape 4" id="4"/>
          <p:cNvSpPr/>
          <p:nvPr/>
        </p:nvSpPr>
        <p:spPr>
          <a:xfrm>
            <a:off x="1143000" y="4095750"/>
            <a:ext cx="15811500" cy="0"/>
          </a:xfrm>
          <a:prstGeom prst="line">
            <a:avLst/>
          </a:prstGeom>
          <a:ln cap="flat" w="19050">
            <a:solidFill>
              <a:srgbClr val="6B51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43000" y="5572125"/>
            <a:ext cx="15811500" cy="0"/>
          </a:xfrm>
          <a:prstGeom prst="line">
            <a:avLst/>
          </a:prstGeom>
          <a:ln cap="flat" w="19050">
            <a:solidFill>
              <a:srgbClr val="6B51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143000" y="7048500"/>
            <a:ext cx="15811500" cy="0"/>
          </a:xfrm>
          <a:prstGeom prst="line">
            <a:avLst/>
          </a:prstGeom>
          <a:ln cap="flat" w="19050">
            <a:solidFill>
              <a:srgbClr val="6B51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143000" y="8524875"/>
            <a:ext cx="15811500" cy="0"/>
          </a:xfrm>
          <a:prstGeom prst="line">
            <a:avLst/>
          </a:prstGeom>
          <a:ln cap="flat" w="19050">
            <a:solidFill>
              <a:srgbClr val="6B51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38250" y="307657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D8A3D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7500" y="3095625"/>
            <a:ext cx="3429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Seguimiento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9000" y="3009900"/>
            <a:ext cx="85725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2D7BD"/>
                </a:solidFill>
                <a:latin typeface="Open Sans"/>
                <a:ea typeface="Open Sans"/>
                <a:cs typeface="Open Sans"/>
                <a:sym typeface="Open Sans"/>
              </a:rPr>
              <a:t>Encuestas a 30 y 90 días para medir si la adopción funcionó (backend listo, falta pantalla).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8250" y="4552950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D8A3D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7500" y="4572000"/>
            <a:ext cx="3429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Métricas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9000" y="4486275"/>
            <a:ext cx="85725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2D7BD"/>
                </a:solidFill>
                <a:latin typeface="Open Sans"/>
                <a:ea typeface="Open Sans"/>
                <a:cs typeface="Open Sans"/>
                <a:sym typeface="Open Sans"/>
              </a:rPr>
              <a:t>Panel del refugio con tasa de devolución (backend listo). Guardados en el backend: hoy solo en el navegador.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50" y="60293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D8A3D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57500" y="6048375"/>
            <a:ext cx="3429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Pruebas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000" y="6105525"/>
            <a:ext cx="8572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2D7BD"/>
                </a:solidFill>
                <a:latin typeface="Open Sans"/>
                <a:ea typeface="Open Sans"/>
                <a:cs typeface="Open Sans"/>
                <a:sym typeface="Open Sans"/>
              </a:rPr>
              <a:t>Pruebas automáticas de auth, postulaciones, seguimiento y gateway.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8250" y="7505700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D8A3D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7500" y="7524750"/>
            <a:ext cx="3429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FFF7ED"/>
                </a:solidFill>
                <a:latin typeface="DM Sans Bold"/>
                <a:ea typeface="DM Sans Bold"/>
                <a:cs typeface="DM Sans Bold"/>
                <a:sym typeface="DM Sans Bold"/>
              </a:rPr>
              <a:t>Operación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39000" y="7581900"/>
            <a:ext cx="8572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2D7BD"/>
                </a:solidFill>
                <a:latin typeface="Open Sans"/>
                <a:ea typeface="Open Sans"/>
                <a:cs typeface="Open Sans"/>
                <a:sym typeface="Open Sans"/>
              </a:rPr>
              <a:t>SMTP para que ingresen refugios reales; documentos Scrum pendientes.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62000"/>
            <a:ext cx="10477500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Próximos pasos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590675"/>
            <a:ext cx="9525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C75B39"/>
                </a:solidFill>
                <a:latin typeface="Open Sans"/>
                <a:ea typeface="Open Sans"/>
                <a:cs typeface="Open Sans"/>
                <a:sym typeface="Open Sans"/>
              </a:rPr>
              <a:t>Fase 3 · de MVP funcional a entrega defendible</a:t>
            </a:r>
          </a:p>
        </p:txBody>
      </p:sp>
      <p:sp>
        <p:nvSpPr>
          <p:cNvPr name="AutoShape 4" id="4"/>
          <p:cNvSpPr/>
          <p:nvPr/>
        </p:nvSpPr>
        <p:spPr>
          <a:xfrm>
            <a:off x="1809750" y="5238750"/>
            <a:ext cx="14478000" cy="0"/>
          </a:xfrm>
          <a:prstGeom prst="line">
            <a:avLst/>
          </a:prstGeom>
          <a:ln cap="rnd" w="114300">
            <a:solidFill>
              <a:srgbClr val="F2D7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24000" y="4953000"/>
            <a:ext cx="571500" cy="571500"/>
            <a:chOff x="0" y="0"/>
            <a:chExt cx="7620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ED8A3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34125" y="4953000"/>
            <a:ext cx="571500" cy="571500"/>
            <a:chOff x="0" y="0"/>
            <a:chExt cx="7620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ED8A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44250" y="4953000"/>
            <a:ext cx="571500" cy="571500"/>
            <a:chOff x="0" y="0"/>
            <a:chExt cx="762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ED8A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954375" y="4953000"/>
            <a:ext cx="571500" cy="571500"/>
            <a:chOff x="0" y="0"/>
            <a:chExt cx="7620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C75B3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0" y="3000375"/>
            <a:ext cx="3619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Sprint 1 · en curso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500" y="3486150"/>
            <a:ext cx="32385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96B63"/>
                </a:solidFill>
                <a:latin typeface="Open Sans"/>
                <a:ea typeface="Open Sans"/>
                <a:cs typeface="Open Sans"/>
                <a:sym typeface="Open Sans"/>
              </a:rPr>
              <a:t>Pantallas de seguimiento post-adopción y métricas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10250" y="5905500"/>
            <a:ext cx="2571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Sprints 2 a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76875" y="6391275"/>
            <a:ext cx="3238500" cy="100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96B63"/>
                </a:solidFill>
                <a:latin typeface="Open Sans"/>
                <a:ea typeface="Open Sans"/>
                <a:cs typeface="Open Sans"/>
                <a:sym typeface="Open Sans"/>
              </a:rPr>
              <a:t>2 semanas c/u: pruebas, guardados, refugios reales y pulido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4125" y="3000375"/>
            <a:ext cx="2571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Cierre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0750" y="3486150"/>
            <a:ext cx="32385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96B63"/>
                </a:solidFill>
                <a:latin typeface="Open Sans"/>
                <a:ea typeface="Open Sans"/>
                <a:cs typeface="Open Sans"/>
                <a:sym typeface="Open Sans"/>
              </a:rPr>
              <a:t>Informe final, retrospectiva y evidencias individuales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20875" y="5905500"/>
            <a:ext cx="3238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41B17"/>
                </a:solidFill>
                <a:latin typeface="DM Sans Bold"/>
                <a:ea typeface="DM Sans Bold"/>
                <a:cs typeface="DM Sans Bold"/>
                <a:sym typeface="DM Sans Bold"/>
              </a:rPr>
              <a:t>27 de noviembre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20875" y="6391275"/>
            <a:ext cx="32385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96B63"/>
                </a:solidFill>
                <a:latin typeface="Open Sans"/>
                <a:ea typeface="Open Sans"/>
                <a:cs typeface="Open Sans"/>
                <a:sym typeface="Open Sans"/>
              </a:rPr>
              <a:t>Entrega final y defensa (por confirmar)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796260" y="8096250"/>
            <a:ext cx="930116" cy="760095"/>
            <a:chOff x="0" y="0"/>
            <a:chExt cx="1240155" cy="101346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253365" y="453390"/>
              <a:ext cx="613410" cy="560070"/>
              <a:chOff x="0" y="0"/>
              <a:chExt cx="613410" cy="5600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13410" cy="560070"/>
              </a:xfrm>
              <a:custGeom>
                <a:avLst/>
                <a:gdLst/>
                <a:ahLst/>
                <a:cxnLst/>
                <a:rect r="r" b="b" t="t" l="l"/>
                <a:pathLst>
                  <a:path h="560070" w="613410">
                    <a:moveTo>
                      <a:pt x="306705" y="0"/>
                    </a:moveTo>
                    <a:cubicBezTo>
                      <a:pt x="476093" y="0"/>
                      <a:pt x="613410" y="125376"/>
                      <a:pt x="613410" y="280035"/>
                    </a:cubicBezTo>
                    <a:cubicBezTo>
                      <a:pt x="613410" y="434694"/>
                      <a:pt x="476093" y="560070"/>
                      <a:pt x="306705" y="560070"/>
                    </a:cubicBezTo>
                    <a:cubicBezTo>
                      <a:pt x="137317" y="560070"/>
                      <a:pt x="0" y="434694"/>
                      <a:pt x="0" y="280035"/>
                    </a:cubicBezTo>
                    <a:cubicBezTo>
                      <a:pt x="0" y="125376"/>
                      <a:pt x="137317" y="0"/>
                      <a:pt x="306705" y="0"/>
                    </a:cubicBezTo>
                    <a:close/>
                  </a:path>
                </a:pathLst>
              </a:custGeom>
              <a:solidFill>
                <a:srgbClr val="C75B3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13410" cy="5981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106680"/>
              <a:ext cx="266700" cy="333375"/>
              <a:chOff x="0" y="0"/>
              <a:chExt cx="266700" cy="33337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66700" cy="333375"/>
              </a:xfrm>
              <a:custGeom>
                <a:avLst/>
                <a:gdLst/>
                <a:ahLst/>
                <a:cxnLst/>
                <a:rect r="r" b="b" t="t" l="l"/>
                <a:pathLst>
                  <a:path h="333375" w="266700">
                    <a:moveTo>
                      <a:pt x="133350" y="0"/>
                    </a:moveTo>
                    <a:cubicBezTo>
                      <a:pt x="206997" y="0"/>
                      <a:pt x="266700" y="74629"/>
                      <a:pt x="266700" y="166688"/>
                    </a:cubicBezTo>
                    <a:cubicBezTo>
                      <a:pt x="266700" y="258746"/>
                      <a:pt x="206997" y="333375"/>
                      <a:pt x="133350" y="333375"/>
                    </a:cubicBezTo>
                    <a:cubicBezTo>
                      <a:pt x="59703" y="333375"/>
                      <a:pt x="0" y="258746"/>
                      <a:pt x="0" y="166688"/>
                    </a:cubicBezTo>
                    <a:cubicBezTo>
                      <a:pt x="0" y="74629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C75B3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66700" cy="371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306705" y="0"/>
              <a:ext cx="266700" cy="333375"/>
              <a:chOff x="0" y="0"/>
              <a:chExt cx="266700" cy="33337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66700" cy="333375"/>
              </a:xfrm>
              <a:custGeom>
                <a:avLst/>
                <a:gdLst/>
                <a:ahLst/>
                <a:cxnLst/>
                <a:rect r="r" b="b" t="t" l="l"/>
                <a:pathLst>
                  <a:path h="333375" w="266700">
                    <a:moveTo>
                      <a:pt x="133350" y="0"/>
                    </a:moveTo>
                    <a:cubicBezTo>
                      <a:pt x="206997" y="0"/>
                      <a:pt x="266700" y="74629"/>
                      <a:pt x="266700" y="166688"/>
                    </a:cubicBezTo>
                    <a:cubicBezTo>
                      <a:pt x="266700" y="258746"/>
                      <a:pt x="206997" y="333375"/>
                      <a:pt x="133350" y="333375"/>
                    </a:cubicBezTo>
                    <a:cubicBezTo>
                      <a:pt x="59703" y="333375"/>
                      <a:pt x="0" y="258746"/>
                      <a:pt x="0" y="166688"/>
                    </a:cubicBezTo>
                    <a:cubicBezTo>
                      <a:pt x="0" y="74629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C75B3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66700" cy="371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666750" y="0"/>
              <a:ext cx="266700" cy="333375"/>
              <a:chOff x="0" y="0"/>
              <a:chExt cx="266700" cy="33337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66700" cy="333375"/>
              </a:xfrm>
              <a:custGeom>
                <a:avLst/>
                <a:gdLst/>
                <a:ahLst/>
                <a:cxnLst/>
                <a:rect r="r" b="b" t="t" l="l"/>
                <a:pathLst>
                  <a:path h="333375" w="266700">
                    <a:moveTo>
                      <a:pt x="133350" y="0"/>
                    </a:moveTo>
                    <a:cubicBezTo>
                      <a:pt x="206997" y="0"/>
                      <a:pt x="266700" y="74629"/>
                      <a:pt x="266700" y="166688"/>
                    </a:cubicBezTo>
                    <a:cubicBezTo>
                      <a:pt x="266700" y="258746"/>
                      <a:pt x="206997" y="333375"/>
                      <a:pt x="133350" y="333375"/>
                    </a:cubicBezTo>
                    <a:cubicBezTo>
                      <a:pt x="59703" y="333375"/>
                      <a:pt x="0" y="258746"/>
                      <a:pt x="0" y="166688"/>
                    </a:cubicBezTo>
                    <a:cubicBezTo>
                      <a:pt x="0" y="74629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C75B3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66700" cy="371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73455" y="106680"/>
              <a:ext cx="266700" cy="333375"/>
              <a:chOff x="0" y="0"/>
              <a:chExt cx="266700" cy="333375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66700" cy="333375"/>
              </a:xfrm>
              <a:custGeom>
                <a:avLst/>
                <a:gdLst/>
                <a:ahLst/>
                <a:cxnLst/>
                <a:rect r="r" b="b" t="t" l="l"/>
                <a:pathLst>
                  <a:path h="333375" w="266700">
                    <a:moveTo>
                      <a:pt x="133350" y="0"/>
                    </a:moveTo>
                    <a:cubicBezTo>
                      <a:pt x="206997" y="0"/>
                      <a:pt x="266700" y="74629"/>
                      <a:pt x="266700" y="166688"/>
                    </a:cubicBezTo>
                    <a:cubicBezTo>
                      <a:pt x="266700" y="258746"/>
                      <a:pt x="206997" y="333375"/>
                      <a:pt x="133350" y="333375"/>
                    </a:cubicBezTo>
                    <a:cubicBezTo>
                      <a:pt x="59703" y="333375"/>
                      <a:pt x="0" y="258746"/>
                      <a:pt x="0" y="166688"/>
                    </a:cubicBezTo>
                    <a:cubicBezTo>
                      <a:pt x="0" y="74629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C75B3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66700" cy="371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DAHXenFIzq0</dc:identifier>
  <dcterms:modified xsi:type="dcterms:W3CDTF">2011-08-01T06:04:30Z</dcterms:modified>
  <cp:revision>1</cp:revision>
  <dc:title>Avances HouseFound · v2 (contenido ampliado)</dc:title>
</cp:coreProperties>
</file>